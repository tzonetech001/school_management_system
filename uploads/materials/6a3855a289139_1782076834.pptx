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89" r:id="rId5"/>
    <p:sldId id="260" r:id="rId6"/>
    <p:sldId id="261" r:id="rId7"/>
    <p:sldId id="264" r:id="rId8"/>
    <p:sldId id="280" r:id="rId9"/>
    <p:sldId id="281" r:id="rId10"/>
    <p:sldId id="282" r:id="rId11"/>
    <p:sldId id="262" r:id="rId12"/>
    <p:sldId id="263" r:id="rId13"/>
    <p:sldId id="265" r:id="rId14"/>
    <p:sldId id="266" r:id="rId15"/>
    <p:sldId id="267" r:id="rId16"/>
    <p:sldId id="268" r:id="rId17"/>
    <p:sldId id="276" r:id="rId18"/>
    <p:sldId id="277" r:id="rId19"/>
    <p:sldId id="278" r:id="rId20"/>
    <p:sldId id="279" r:id="rId21"/>
    <p:sldId id="274" r:id="rId22"/>
    <p:sldId id="275" r:id="rId23"/>
    <p:sldId id="269" r:id="rId24"/>
    <p:sldId id="270" r:id="rId25"/>
    <p:sldId id="271" r:id="rId26"/>
    <p:sldId id="272" r:id="rId27"/>
    <p:sldId id="273" r:id="rId28"/>
    <p:sldId id="283" r:id="rId29"/>
    <p:sldId id="284" r:id="rId30"/>
    <p:sldId id="287" r:id="rId31"/>
    <p:sldId id="285" r:id="rId32"/>
    <p:sldId id="28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6EA743-C5BB-4BAA-A8F1-4BCA5DF5DD65}" type="datetimeFigureOut">
              <a:rPr lang="en-US" smtClean="0"/>
              <a:t>4/20/2026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35838201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6EA743-C5BB-4BAA-A8F1-4BCA5DF5DD6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227041990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6EA743-C5BB-4BAA-A8F1-4BCA5DF5DD6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39081260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6EA743-C5BB-4BAA-A8F1-4BCA5DF5DD65}"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10874262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6EA743-C5BB-4BAA-A8F1-4BCA5DF5DD65}"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32790069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6EA743-C5BB-4BAA-A8F1-4BCA5DF5DD65}"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17419493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6EA743-C5BB-4BAA-A8F1-4BCA5DF5DD65}"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14983681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6EA743-C5BB-4BAA-A8F1-4BCA5DF5DD65}"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38083234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6EA743-C5BB-4BAA-A8F1-4BCA5DF5DD65}"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37203561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6EA743-C5BB-4BAA-A8F1-4BCA5DF5DD65}"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29835009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6EA743-C5BB-4BAA-A8F1-4BCA5DF5DD6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5166552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6EA743-C5BB-4BAA-A8F1-4BCA5DF5DD6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20224392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6EA743-C5BB-4BAA-A8F1-4BCA5DF5DD6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30268594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6EA743-C5BB-4BAA-A8F1-4BCA5DF5DD6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40086907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6EA743-C5BB-4BAA-A8F1-4BCA5DF5DD6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34503470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6EA743-C5BB-4BAA-A8F1-4BCA5DF5DD6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40580251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6EA743-C5BB-4BAA-A8F1-4BCA5DF5DD6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128A22-6249-49BC-A6B9-87B370A3973F}" type="slidenum">
              <a:rPr lang="en-US" smtClean="0"/>
              <a:t>‹#›</a:t>
            </a:fld>
            <a:endParaRPr lang="en-US"/>
          </a:p>
        </p:txBody>
      </p:sp>
    </p:spTree>
    <p:extLst>
      <p:ext uri="{BB962C8B-B14F-4D97-AF65-F5344CB8AC3E}">
        <p14:creationId xmlns:p14="http://schemas.microsoft.com/office/powerpoint/2010/main" val="10099613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C6EA743-C5BB-4BAA-A8F1-4BCA5DF5DD65}" type="datetimeFigureOut">
              <a:rPr lang="en-US" smtClean="0"/>
              <a:t>4/20/2026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5128A22-6249-49BC-A6B9-87B370A3973F}" type="slidenum">
              <a:rPr lang="en-US" smtClean="0"/>
              <a:t>‹#›</a:t>
            </a:fld>
            <a:endParaRPr lang="en-US"/>
          </a:p>
        </p:txBody>
      </p:sp>
    </p:spTree>
    <p:extLst>
      <p:ext uri="{BB962C8B-B14F-4D97-AF65-F5344CB8AC3E}">
        <p14:creationId xmlns:p14="http://schemas.microsoft.com/office/powerpoint/2010/main" val="19994169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geeksforgeeks.org/social-science/constraints-in-geographical-information-system-gi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AD11F-206A-2E04-1197-FBFCB34D13C4}"/>
              </a:ext>
            </a:extLst>
          </p:cNvPr>
          <p:cNvSpPr>
            <a:spLocks noGrp="1"/>
          </p:cNvSpPr>
          <p:nvPr>
            <p:ph type="ctrTitle"/>
          </p:nvPr>
        </p:nvSpPr>
        <p:spPr/>
        <p:txBody>
          <a:bodyPr>
            <a:normAutofit/>
          </a:bodyPr>
          <a:lstStyle/>
          <a:p>
            <a:r>
              <a:rPr lang="en-US" sz="9600" dirty="0">
                <a:latin typeface="Times New Roman" panose="02020603050405020304" pitchFamily="18" charset="0"/>
                <a:cs typeface="Times New Roman" panose="02020603050405020304" pitchFamily="18" charset="0"/>
              </a:rPr>
              <a:t>GPS</a:t>
            </a:r>
          </a:p>
        </p:txBody>
      </p:sp>
      <p:sp>
        <p:nvSpPr>
          <p:cNvPr id="3" name="Subtitle 2">
            <a:extLst>
              <a:ext uri="{FF2B5EF4-FFF2-40B4-BE49-F238E27FC236}">
                <a16:creationId xmlns:a16="http://schemas.microsoft.com/office/drawing/2014/main" id="{D0F7DF5B-FF76-076B-0D99-7978D8A39BA2}"/>
              </a:ext>
            </a:extLst>
          </p:cNvPr>
          <p:cNvSpPr>
            <a:spLocks noGrp="1"/>
          </p:cNvSpPr>
          <p:nvPr>
            <p:ph type="subTitle" idx="1"/>
          </p:nvPr>
        </p:nvSpPr>
        <p:spPr/>
        <p:txBody>
          <a:bodyPr>
            <a:normAutofit/>
          </a:bodyPr>
          <a:lstStyle/>
          <a:p>
            <a:r>
              <a:rPr lang="en-US" sz="3200" dirty="0">
                <a:latin typeface="Times New Roman" panose="02020603050405020304" pitchFamily="18" charset="0"/>
                <a:cs typeface="Times New Roman" panose="02020603050405020304" pitchFamily="18" charset="0"/>
              </a:rPr>
              <a:t>GROUP 5</a:t>
            </a:r>
          </a:p>
        </p:txBody>
      </p:sp>
    </p:spTree>
    <p:extLst>
      <p:ext uri="{BB962C8B-B14F-4D97-AF65-F5344CB8AC3E}">
        <p14:creationId xmlns:p14="http://schemas.microsoft.com/office/powerpoint/2010/main" val="14383787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A1D2C-7C8A-D5AE-45A2-86225CCD5D54}"/>
              </a:ext>
            </a:extLst>
          </p:cNvPr>
          <p:cNvSpPr>
            <a:spLocks noGrp="1"/>
          </p:cNvSpPr>
          <p:nvPr>
            <p:ph type="title"/>
          </p:nvPr>
        </p:nvSpPr>
        <p:spPr>
          <a:xfrm>
            <a:off x="1484311" y="685801"/>
            <a:ext cx="10018713" cy="1458686"/>
          </a:xfrm>
        </p:spPr>
        <p:txBody>
          <a:bodyPr/>
          <a:lstStyle/>
          <a:p>
            <a:r>
              <a:rPr lang="en-US" b="1" dirty="0">
                <a:latin typeface="Times New Roman" panose="02020603050405020304" pitchFamily="18" charset="0"/>
                <a:cs typeface="Times New Roman" panose="02020603050405020304" pitchFamily="18" charset="0"/>
              </a:rPr>
              <a:t>What is  GPS </a:t>
            </a:r>
          </a:p>
        </p:txBody>
      </p:sp>
      <p:sp>
        <p:nvSpPr>
          <p:cNvPr id="3" name="Content Placeholder 2">
            <a:extLst>
              <a:ext uri="{FF2B5EF4-FFF2-40B4-BE49-F238E27FC236}">
                <a16:creationId xmlns:a16="http://schemas.microsoft.com/office/drawing/2014/main" id="{F476A3C1-CD6B-35B1-A395-3070188630FB}"/>
              </a:ext>
            </a:extLst>
          </p:cNvPr>
          <p:cNvSpPr>
            <a:spLocks noGrp="1"/>
          </p:cNvSpPr>
          <p:nvPr>
            <p:ph idx="1"/>
          </p:nvPr>
        </p:nvSpPr>
        <p:spPr>
          <a:xfrm>
            <a:off x="1484310" y="1338943"/>
            <a:ext cx="10018713" cy="5519057"/>
          </a:xfrm>
        </p:spPr>
        <p:txBody>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GPS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standands</a:t>
            </a:r>
            <a:r>
              <a:rPr lang="en-US" dirty="0">
                <a:latin typeface="Times New Roman" panose="02020603050405020304" pitchFamily="18" charset="0"/>
                <a:cs typeface="Times New Roman" panose="02020603050405020304" pitchFamily="18" charset="0"/>
              </a:rPr>
              <a:t> for  Global Positioning System ,It  is a satellite-based navigation network that provides anyone with a receiver their precise geographic location, speed, and current time. Owned by the United States and operated by the </a:t>
            </a:r>
            <a:r>
              <a:rPr lang="en-US" b="1" dirty="0">
                <a:latin typeface="Times New Roman" panose="02020603050405020304" pitchFamily="18" charset="0"/>
                <a:cs typeface="Times New Roman" panose="02020603050405020304" pitchFamily="18" charset="0"/>
              </a:rPr>
              <a:t>U.S. Space Force</a:t>
            </a:r>
            <a:r>
              <a:rPr lang="en-US" dirty="0">
                <a:latin typeface="Times New Roman" panose="02020603050405020304" pitchFamily="18" charset="0"/>
                <a:cs typeface="Times New Roman" panose="02020603050405020304" pitchFamily="18" charset="0"/>
              </a:rPr>
              <a:t>, it is a free global utility used for everything from driving directions to synchronizing financial markets. It helps find where things are on Earth. GPS works by using messages from satellites that fly around Earth. There are 24 main satellites and some extras just in case. To find a place exactly, GPS uses four satellites in a method called trilateration. </a:t>
            </a:r>
          </a:p>
        </p:txBody>
      </p:sp>
    </p:spTree>
    <p:extLst>
      <p:ext uri="{BB962C8B-B14F-4D97-AF65-F5344CB8AC3E}">
        <p14:creationId xmlns:p14="http://schemas.microsoft.com/office/powerpoint/2010/main" val="28822938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44B40-279E-28D7-6D9B-1E9E0F9B4AC0}"/>
              </a:ext>
            </a:extLst>
          </p:cNvPr>
          <p:cNvSpPr>
            <a:spLocks noGrp="1"/>
          </p:cNvSpPr>
          <p:nvPr>
            <p:ph type="title"/>
          </p:nvPr>
        </p:nvSpPr>
        <p:spPr>
          <a:xfrm>
            <a:off x="1484311" y="-76199"/>
            <a:ext cx="10018713" cy="1295400"/>
          </a:xfrm>
        </p:spPr>
        <p:txBody>
          <a:bodyPr/>
          <a:lstStyle/>
          <a:p>
            <a:r>
              <a:rPr lang="en-US" b="1" dirty="0">
                <a:latin typeface="Times New Roman" panose="02020603050405020304" pitchFamily="18" charset="0"/>
                <a:cs typeface="Times New Roman" panose="02020603050405020304" pitchFamily="18" charset="0"/>
              </a:rPr>
              <a:t>What is trilateration?</a:t>
            </a:r>
          </a:p>
        </p:txBody>
      </p:sp>
      <p:sp>
        <p:nvSpPr>
          <p:cNvPr id="3" name="Content Placeholder 2">
            <a:extLst>
              <a:ext uri="{FF2B5EF4-FFF2-40B4-BE49-F238E27FC236}">
                <a16:creationId xmlns:a16="http://schemas.microsoft.com/office/drawing/2014/main" id="{0C535908-77CD-8CA1-BD7E-A4131EE99C2E}"/>
              </a:ext>
            </a:extLst>
          </p:cNvPr>
          <p:cNvSpPr>
            <a:spLocks noGrp="1"/>
          </p:cNvSpPr>
          <p:nvPr>
            <p:ph idx="1"/>
          </p:nvPr>
        </p:nvSpPr>
        <p:spPr>
          <a:xfrm>
            <a:off x="1839686" y="1382487"/>
            <a:ext cx="10352314" cy="5312226"/>
          </a:xfrm>
        </p:spPr>
        <p:txBody>
          <a:bodyPr>
            <a:normAutofit/>
          </a:bodyPr>
          <a:lstStyle/>
          <a:p>
            <a:r>
              <a:rPr lang="en-US" b="1" dirty="0">
                <a:latin typeface="Times New Roman" panose="02020603050405020304" pitchFamily="18" charset="0"/>
                <a:cs typeface="Times New Roman" panose="02020603050405020304" pitchFamily="18" charset="0"/>
              </a:rPr>
              <a:t>Trilateration</a:t>
            </a:r>
            <a:r>
              <a:rPr lang="en-US" dirty="0">
                <a:latin typeface="Times New Roman" panose="02020603050405020304" pitchFamily="18" charset="0"/>
                <a:cs typeface="Times New Roman" panose="02020603050405020304" pitchFamily="18" charset="0"/>
              </a:rPr>
              <a:t> is the process of determining your position based on the intersection of spheres. When a receiver receives a signal from one of the satellite, it calculates its distance from the satellite considering a 3-D sphere with the satellite located at the center of the sphere. Once the receiver does the same with 3 other GPS satellites, the receiver then proceeds to find the intersection point of the 3 spheres to calculate it's location. Once the position of a receiver is calculated, the GPS device can then easily calculate:</a:t>
            </a:r>
          </a:p>
          <a:p>
            <a:r>
              <a:rPr lang="en-US" dirty="0">
                <a:latin typeface="Times New Roman" panose="02020603050405020304" pitchFamily="18" charset="0"/>
                <a:cs typeface="Times New Roman" panose="02020603050405020304" pitchFamily="18" charset="0"/>
              </a:rPr>
              <a:t>Time of sunrise and sunset</a:t>
            </a:r>
          </a:p>
          <a:p>
            <a:r>
              <a:rPr lang="en-US" dirty="0">
                <a:latin typeface="Times New Roman" panose="02020603050405020304" pitchFamily="18" charset="0"/>
                <a:cs typeface="Times New Roman" panose="02020603050405020304" pitchFamily="18" charset="0"/>
              </a:rPr>
              <a:t>Speed</a:t>
            </a:r>
          </a:p>
          <a:p>
            <a:r>
              <a:rPr lang="en-US" dirty="0">
                <a:latin typeface="Times New Roman" panose="02020603050405020304" pitchFamily="18" charset="0"/>
                <a:cs typeface="Times New Roman" panose="02020603050405020304" pitchFamily="18" charset="0"/>
              </a:rPr>
              <a:t>Track distance to destination of the GPS receiver.</a:t>
            </a:r>
          </a:p>
          <a:p>
            <a:endParaRPr lang="en-US" dirty="0"/>
          </a:p>
        </p:txBody>
      </p:sp>
    </p:spTree>
    <p:extLst>
      <p:ext uri="{BB962C8B-B14F-4D97-AF65-F5344CB8AC3E}">
        <p14:creationId xmlns:p14="http://schemas.microsoft.com/office/powerpoint/2010/main" val="36139129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7464F-0C15-3469-CED8-8EC1E910B38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89F6776-B6FE-9BF9-267D-FBC3F0CD90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9314" y="217715"/>
            <a:ext cx="9655629" cy="6564086"/>
          </a:xfrm>
          <a:prstGeom prst="rect">
            <a:avLst/>
          </a:prstGeom>
        </p:spPr>
      </p:pic>
    </p:spTree>
    <p:extLst>
      <p:ext uri="{BB962C8B-B14F-4D97-AF65-F5344CB8AC3E}">
        <p14:creationId xmlns:p14="http://schemas.microsoft.com/office/powerpoint/2010/main" val="7738242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03887-2CAA-52A0-CFFD-E69B18BF9511}"/>
              </a:ext>
            </a:extLst>
          </p:cNvPr>
          <p:cNvSpPr>
            <a:spLocks noGrp="1"/>
          </p:cNvSpPr>
          <p:nvPr>
            <p:ph type="title"/>
          </p:nvPr>
        </p:nvSpPr>
        <p:spPr>
          <a:xfrm>
            <a:off x="1484311" y="-195943"/>
            <a:ext cx="10018713" cy="947057"/>
          </a:xfrm>
        </p:spPr>
        <p:txBody>
          <a:bodyPr/>
          <a:lstStyle/>
          <a:p>
            <a:r>
              <a:rPr lang="en-US" b="1" dirty="0">
                <a:latin typeface="Times New Roman" panose="02020603050405020304" pitchFamily="18" charset="0"/>
                <a:cs typeface="Times New Roman" panose="02020603050405020304" pitchFamily="18" charset="0"/>
              </a:rPr>
              <a:t>History of GPS</a:t>
            </a:r>
          </a:p>
        </p:txBody>
      </p:sp>
      <p:sp>
        <p:nvSpPr>
          <p:cNvPr id="3" name="Content Placeholder 2">
            <a:extLst>
              <a:ext uri="{FF2B5EF4-FFF2-40B4-BE49-F238E27FC236}">
                <a16:creationId xmlns:a16="http://schemas.microsoft.com/office/drawing/2014/main" id="{6F9FE7AC-03FB-454F-7FAE-DCB8A3F4ED1E}"/>
              </a:ext>
            </a:extLst>
          </p:cNvPr>
          <p:cNvSpPr>
            <a:spLocks noGrp="1"/>
          </p:cNvSpPr>
          <p:nvPr>
            <p:ph idx="1"/>
          </p:nvPr>
        </p:nvSpPr>
        <p:spPr>
          <a:xfrm>
            <a:off x="1872342" y="751114"/>
            <a:ext cx="10874829" cy="6335485"/>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Pre-Satellite Era (1940s–1950s)</a:t>
            </a:r>
          </a:p>
          <a:p>
            <a:r>
              <a:rPr lang="en-US" dirty="0">
                <a:latin typeface="Times New Roman" panose="02020603050405020304" pitchFamily="18" charset="0"/>
                <a:cs typeface="Times New Roman" panose="02020603050405020304" pitchFamily="18" charset="0"/>
              </a:rPr>
              <a:t>Navigation relied on </a:t>
            </a:r>
            <a:r>
              <a:rPr lang="en-US" b="1" dirty="0">
                <a:latin typeface="Times New Roman" panose="02020603050405020304" pitchFamily="18" charset="0"/>
                <a:cs typeface="Times New Roman" panose="02020603050405020304" pitchFamily="18" charset="0"/>
              </a:rPr>
              <a:t>LORAN</a:t>
            </a:r>
            <a:r>
              <a:rPr lang="en-US" dirty="0">
                <a:latin typeface="Times New Roman" panose="02020603050405020304" pitchFamily="18" charset="0"/>
                <a:cs typeface="Times New Roman" panose="02020603050405020304" pitchFamily="18" charset="0"/>
              </a:rPr>
              <a:t>, a land-based radio system </a:t>
            </a:r>
          </a:p>
          <a:p>
            <a:r>
              <a:rPr lang="en-US" dirty="0">
                <a:latin typeface="Times New Roman" panose="02020603050405020304" pitchFamily="18" charset="0"/>
                <a:cs typeface="Times New Roman" panose="02020603050405020304" pitchFamily="18" charset="0"/>
              </a:rPr>
              <a:t>Used signal timing from ground stations for ships and aircraft </a:t>
            </a:r>
          </a:p>
          <a:p>
            <a:r>
              <a:rPr lang="en-US" dirty="0">
                <a:latin typeface="Times New Roman" panose="02020603050405020304" pitchFamily="18" charset="0"/>
                <a:cs typeface="Times New Roman" panose="02020603050405020304" pitchFamily="18" charset="0"/>
              </a:rPr>
              <a:t>Limited by geography and required large infrastructure </a:t>
            </a:r>
          </a:p>
          <a:p>
            <a:pPr marL="0" indent="0">
              <a:buNone/>
            </a:pPr>
            <a:r>
              <a:rPr lang="en-US" b="1" dirty="0">
                <a:latin typeface="Times New Roman" panose="02020603050405020304" pitchFamily="18" charset="0"/>
                <a:cs typeface="Times New Roman" panose="02020603050405020304" pitchFamily="18" charset="0"/>
              </a:rPr>
              <a:t>Sputnik Revelation (1957)</a:t>
            </a:r>
          </a:p>
          <a:p>
            <a:r>
              <a:rPr lang="en-US" dirty="0">
                <a:latin typeface="Times New Roman" panose="02020603050405020304" pitchFamily="18" charset="0"/>
                <a:cs typeface="Times New Roman" panose="02020603050405020304" pitchFamily="18" charset="0"/>
              </a:rPr>
              <a:t>Launch of </a:t>
            </a:r>
            <a:r>
              <a:rPr lang="en-US" b="1" dirty="0">
                <a:latin typeface="Times New Roman" panose="02020603050405020304" pitchFamily="18" charset="0"/>
                <a:cs typeface="Times New Roman" panose="02020603050405020304" pitchFamily="18" charset="0"/>
              </a:rPr>
              <a:t>Sputnik I</a:t>
            </a:r>
            <a:r>
              <a:rPr lang="en-US" dirty="0">
                <a:latin typeface="Times New Roman" panose="02020603050405020304" pitchFamily="18" charset="0"/>
                <a:cs typeface="Times New Roman" panose="02020603050405020304" pitchFamily="18" charset="0"/>
              </a:rPr>
              <a:t> changed navigation technology </a:t>
            </a:r>
          </a:p>
          <a:p>
            <a:r>
              <a:rPr lang="en-US" dirty="0">
                <a:latin typeface="Times New Roman" panose="02020603050405020304" pitchFamily="18" charset="0"/>
                <a:cs typeface="Times New Roman" panose="02020603050405020304" pitchFamily="18" charset="0"/>
              </a:rPr>
              <a:t>Scientists used the </a:t>
            </a:r>
            <a:r>
              <a:rPr lang="en-US" b="1" dirty="0">
                <a:latin typeface="Times New Roman" panose="02020603050405020304" pitchFamily="18" charset="0"/>
                <a:cs typeface="Times New Roman" panose="02020603050405020304" pitchFamily="18" charset="0"/>
              </a:rPr>
              <a:t>Doppler Effect</a:t>
            </a:r>
            <a:r>
              <a:rPr lang="en-US" dirty="0">
                <a:latin typeface="Times New Roman" panose="02020603050405020304" pitchFamily="18" charset="0"/>
                <a:cs typeface="Times New Roman" panose="02020603050405020304" pitchFamily="18" charset="0"/>
              </a:rPr>
              <a:t> to track satellite movement </a:t>
            </a:r>
          </a:p>
          <a:p>
            <a:r>
              <a:rPr lang="en-US" dirty="0">
                <a:latin typeface="Times New Roman" panose="02020603050405020304" pitchFamily="18" charset="0"/>
                <a:cs typeface="Times New Roman" panose="02020603050405020304" pitchFamily="18" charset="0"/>
              </a:rPr>
              <a:t>Discovery: known satellite positions could help locate users on Earth </a:t>
            </a:r>
          </a:p>
          <a:p>
            <a:pPr marL="0" indent="0">
              <a:buNone/>
            </a:pPr>
            <a:r>
              <a:rPr lang="en-US" b="1" dirty="0">
                <a:latin typeface="Times New Roman" panose="02020603050405020304" pitchFamily="18" charset="0"/>
                <a:cs typeface="Times New Roman" panose="02020603050405020304" pitchFamily="18" charset="0"/>
              </a:rPr>
              <a:t>Early Foundations (1960s–1972)</a:t>
            </a:r>
          </a:p>
          <a:p>
            <a:r>
              <a:rPr lang="en-US" b="1" dirty="0">
                <a:latin typeface="Times New Roman" panose="02020603050405020304" pitchFamily="18" charset="0"/>
                <a:cs typeface="Times New Roman" panose="02020603050405020304" pitchFamily="18" charset="0"/>
              </a:rPr>
              <a:t>Transit (1960):</a:t>
            </a:r>
            <a:r>
              <a:rPr lang="en-US" dirty="0">
                <a:latin typeface="Times New Roman" panose="02020603050405020304" pitchFamily="18" charset="0"/>
                <a:cs typeface="Times New Roman" panose="02020603050405020304" pitchFamily="18" charset="0"/>
              </a:rPr>
              <a:t> First satellite navigation system for U.S. Navy submarines </a:t>
            </a:r>
          </a:p>
          <a:p>
            <a:r>
              <a:rPr lang="en-US" dirty="0">
                <a:latin typeface="Times New Roman" panose="02020603050405020304" pitchFamily="18" charset="0"/>
                <a:cs typeface="Times New Roman" panose="02020603050405020304" pitchFamily="18" charset="0"/>
              </a:rPr>
              <a:t>Provided location updates only once per hour </a:t>
            </a:r>
          </a:p>
          <a:p>
            <a:r>
              <a:rPr lang="en-US" b="1" dirty="0" err="1">
                <a:latin typeface="Times New Roman" panose="02020603050405020304" pitchFamily="18" charset="0"/>
                <a:cs typeface="Times New Roman" panose="02020603050405020304" pitchFamily="18" charset="0"/>
              </a:rPr>
              <a:t>Timation</a:t>
            </a:r>
            <a:r>
              <a:rPr lang="en-US" b="1" dirty="0">
                <a:latin typeface="Times New Roman" panose="02020603050405020304" pitchFamily="18" charset="0"/>
                <a:cs typeface="Times New Roman" panose="02020603050405020304" pitchFamily="18" charset="0"/>
              </a:rPr>
              <a:t> (1967):</a:t>
            </a:r>
            <a:r>
              <a:rPr lang="en-US" dirty="0">
                <a:latin typeface="Times New Roman" panose="02020603050405020304" pitchFamily="18" charset="0"/>
                <a:cs typeface="Times New Roman" panose="02020603050405020304" pitchFamily="18" charset="0"/>
              </a:rPr>
              <a:t> Introduced atomic clocks for precise positioning</a:t>
            </a:r>
          </a:p>
          <a:p>
            <a:endParaRPr lang="en-US" dirty="0"/>
          </a:p>
        </p:txBody>
      </p:sp>
    </p:spTree>
    <p:extLst>
      <p:ext uri="{BB962C8B-B14F-4D97-AF65-F5344CB8AC3E}">
        <p14:creationId xmlns:p14="http://schemas.microsoft.com/office/powerpoint/2010/main" val="6158682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0D6B-CE9C-AD59-0227-229189FBDB94}"/>
              </a:ext>
            </a:extLst>
          </p:cNvPr>
          <p:cNvSpPr>
            <a:spLocks noGrp="1"/>
          </p:cNvSpPr>
          <p:nvPr>
            <p:ph type="title"/>
          </p:nvPr>
        </p:nvSpPr>
        <p:spPr>
          <a:xfrm>
            <a:off x="1484311" y="130630"/>
            <a:ext cx="10018713" cy="1328055"/>
          </a:xfrm>
        </p:spPr>
        <p:txBody>
          <a:bodyPr/>
          <a:lstStyle/>
          <a:p>
            <a:r>
              <a:rPr lang="en-US" b="1" dirty="0">
                <a:latin typeface="Times New Roman" panose="02020603050405020304" pitchFamily="18" charset="0"/>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id="{701D17E6-1AAF-C223-8500-82B11BD9F1E4}"/>
              </a:ext>
            </a:extLst>
          </p:cNvPr>
          <p:cNvSpPr>
            <a:spLocks noGrp="1"/>
          </p:cNvSpPr>
          <p:nvPr>
            <p:ph idx="1"/>
          </p:nvPr>
        </p:nvSpPr>
        <p:spPr>
          <a:xfrm>
            <a:off x="1484310" y="1088571"/>
            <a:ext cx="11023376" cy="5878286"/>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Development of NAVSTAR GPS (1973–1993)</a:t>
            </a:r>
          </a:p>
          <a:p>
            <a:r>
              <a:rPr lang="en-US" dirty="0">
                <a:latin typeface="Times New Roman" panose="02020603050405020304" pitchFamily="18" charset="0"/>
                <a:cs typeface="Times New Roman" panose="02020603050405020304" pitchFamily="18" charset="0"/>
              </a:rPr>
              <a:t>U.S. Department of Defense created </a:t>
            </a:r>
            <a:r>
              <a:rPr lang="en-US" b="1" dirty="0">
                <a:latin typeface="Times New Roman" panose="02020603050405020304" pitchFamily="18" charset="0"/>
                <a:cs typeface="Times New Roman" panose="02020603050405020304" pitchFamily="18" charset="0"/>
              </a:rPr>
              <a:t>NAVSTAR GPS</a:t>
            </a:r>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1978:</a:t>
            </a:r>
            <a:r>
              <a:rPr lang="en-US" dirty="0">
                <a:latin typeface="Times New Roman" panose="02020603050405020304" pitchFamily="18" charset="0"/>
                <a:cs typeface="Times New Roman" panose="02020603050405020304" pitchFamily="18" charset="0"/>
              </a:rPr>
              <a:t> First experimental GPS satellite launched </a:t>
            </a:r>
          </a:p>
          <a:p>
            <a:r>
              <a:rPr lang="en-US" b="1" dirty="0">
                <a:latin typeface="Times New Roman" panose="02020603050405020304" pitchFamily="18" charset="0"/>
                <a:cs typeface="Times New Roman" panose="02020603050405020304" pitchFamily="18" charset="0"/>
              </a:rPr>
              <a:t>1983:</a:t>
            </a:r>
            <a:r>
              <a:rPr lang="en-US" dirty="0">
                <a:latin typeface="Times New Roman" panose="02020603050405020304" pitchFamily="18" charset="0"/>
                <a:cs typeface="Times New Roman" panose="02020603050405020304" pitchFamily="18" charset="0"/>
              </a:rPr>
              <a:t> President Ronald Reagan opened GPS for civilian use </a:t>
            </a:r>
          </a:p>
          <a:p>
            <a:r>
              <a:rPr lang="en-US" b="1" dirty="0">
                <a:latin typeface="Times New Roman" panose="02020603050405020304" pitchFamily="18" charset="0"/>
                <a:cs typeface="Times New Roman" panose="02020603050405020304" pitchFamily="18" charset="0"/>
              </a:rPr>
              <a:t>1993:</a:t>
            </a:r>
            <a:r>
              <a:rPr lang="en-US" dirty="0">
                <a:latin typeface="Times New Roman" panose="02020603050405020304" pitchFamily="18" charset="0"/>
                <a:cs typeface="Times New Roman" panose="02020603050405020304" pitchFamily="18" charset="0"/>
              </a:rPr>
              <a:t> Full 24-satellite constellation achieved </a:t>
            </a:r>
          </a:p>
          <a:p>
            <a:pPr marL="0" indent="0">
              <a:buNone/>
            </a:pPr>
            <a:r>
              <a:rPr lang="en-US" b="1" dirty="0">
                <a:latin typeface="Times New Roman" panose="02020603050405020304" pitchFamily="18" charset="0"/>
                <a:cs typeface="Times New Roman" panose="02020603050405020304" pitchFamily="18" charset="0"/>
              </a:rPr>
              <a:t>From Military Tool to Global Utility (1995–Present)</a:t>
            </a:r>
          </a:p>
          <a:p>
            <a:pPr>
              <a:buFont typeface="Arial" panose="020B0604020202020204" pitchFamily="34" charset="0"/>
              <a:buChar char="•"/>
            </a:pPr>
            <a:r>
              <a:rPr lang="en-US" b="1">
                <a:latin typeface="Times New Roman" panose="02020603050405020304" pitchFamily="18" charset="0"/>
                <a:cs typeface="Times New Roman" panose="02020603050405020304" pitchFamily="18" charset="0"/>
              </a:rPr>
              <a:t>1995</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GPS became fully operational </a:t>
            </a:r>
          </a:p>
          <a:p>
            <a:r>
              <a:rPr lang="en-US" b="1" dirty="0">
                <a:latin typeface="Times New Roman" panose="02020603050405020304" pitchFamily="18" charset="0"/>
                <a:cs typeface="Times New Roman" panose="02020603050405020304" pitchFamily="18" charset="0"/>
              </a:rPr>
              <a:t>2000:</a:t>
            </a:r>
            <a:r>
              <a:rPr lang="en-US" dirty="0">
                <a:latin typeface="Times New Roman" panose="02020603050405020304" pitchFamily="18" charset="0"/>
                <a:cs typeface="Times New Roman" panose="02020603050405020304" pitchFamily="18" charset="0"/>
              </a:rPr>
              <a:t> Selective Availability removed by President Bill Clinton </a:t>
            </a:r>
          </a:p>
          <a:p>
            <a:r>
              <a:rPr lang="en-US" dirty="0">
                <a:latin typeface="Times New Roman" panose="02020603050405020304" pitchFamily="18" charset="0"/>
                <a:cs typeface="Times New Roman" panose="02020603050405020304" pitchFamily="18" charset="0"/>
              </a:rPr>
              <a:t>Civilian accuracy improved from ~100m to ~10m </a:t>
            </a:r>
          </a:p>
          <a:p>
            <a:endParaRPr lang="en-US" dirty="0"/>
          </a:p>
        </p:txBody>
      </p:sp>
    </p:spTree>
    <p:extLst>
      <p:ext uri="{BB962C8B-B14F-4D97-AF65-F5344CB8AC3E}">
        <p14:creationId xmlns:p14="http://schemas.microsoft.com/office/powerpoint/2010/main" val="10954974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EB824-B06E-6348-174C-9219DC8A342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id="{6037C9BE-D0F2-CA54-D549-D2EEFFB76E09}"/>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2018–Present:</a:t>
            </a:r>
            <a:r>
              <a:rPr lang="en-US" dirty="0">
                <a:latin typeface="Times New Roman" panose="02020603050405020304" pitchFamily="18" charset="0"/>
                <a:cs typeface="Times New Roman" panose="02020603050405020304" pitchFamily="18" charset="0"/>
              </a:rPr>
              <a:t> GPS III satellites improved accuracy and anti-jamming </a:t>
            </a:r>
          </a:p>
          <a:p>
            <a:r>
              <a:rPr lang="en-US" b="1" dirty="0">
                <a:latin typeface="Times New Roman" panose="02020603050405020304" pitchFamily="18" charset="0"/>
                <a:cs typeface="Times New Roman" panose="02020603050405020304" pitchFamily="18" charset="0"/>
              </a:rPr>
              <a:t>Today</a:t>
            </a:r>
          </a:p>
          <a:p>
            <a:r>
              <a:rPr lang="en-US" dirty="0">
                <a:latin typeface="Times New Roman" panose="02020603050405020304" pitchFamily="18" charset="0"/>
                <a:cs typeface="Times New Roman" panose="02020603050405020304" pitchFamily="18" charset="0"/>
              </a:rPr>
              <a:t>Managed by the </a:t>
            </a:r>
            <a:r>
              <a:rPr lang="en-US" b="1" dirty="0">
                <a:latin typeface="Times New Roman" panose="02020603050405020304" pitchFamily="18" charset="0"/>
                <a:cs typeface="Times New Roman" panose="02020603050405020304" pitchFamily="18" charset="0"/>
              </a:rPr>
              <a:t>U.S. Space Force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Around </a:t>
            </a:r>
            <a:r>
              <a:rPr lang="en-US" b="1" dirty="0">
                <a:latin typeface="Times New Roman" panose="02020603050405020304" pitchFamily="18" charset="0"/>
                <a:cs typeface="Times New Roman" panose="02020603050405020304" pitchFamily="18" charset="0"/>
              </a:rPr>
              <a:t>31 operational satellites</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At least 4 satellites visible anywhere on Earth at all times </a:t>
            </a:r>
          </a:p>
          <a:p>
            <a:endParaRPr lang="en-US" dirty="0"/>
          </a:p>
        </p:txBody>
      </p:sp>
    </p:spTree>
    <p:extLst>
      <p:ext uri="{BB962C8B-B14F-4D97-AF65-F5344CB8AC3E}">
        <p14:creationId xmlns:p14="http://schemas.microsoft.com/office/powerpoint/2010/main" val="29400950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8C834-EAA8-16C2-BB15-BB8A7F75B960}"/>
              </a:ext>
            </a:extLst>
          </p:cNvPr>
          <p:cNvSpPr>
            <a:spLocks noGrp="1"/>
          </p:cNvSpPr>
          <p:nvPr>
            <p:ph type="title"/>
          </p:nvPr>
        </p:nvSpPr>
        <p:spPr>
          <a:xfrm>
            <a:off x="1484311" y="685800"/>
            <a:ext cx="10018713" cy="1273629"/>
          </a:xfrm>
        </p:spPr>
        <p:txBody>
          <a:bodyPr>
            <a:normAutofit fontScale="90000"/>
          </a:bodyPr>
          <a:lstStyle/>
          <a:p>
            <a:r>
              <a:rPr lang="en-US" b="1" dirty="0">
                <a:latin typeface="Times New Roman" panose="02020603050405020304" pitchFamily="18" charset="0"/>
                <a:cs typeface="Times New Roman" panose="02020603050405020304" pitchFamily="18" charset="0"/>
              </a:rPr>
              <a:t>Where GPS Is Now (2026 Trends)</a:t>
            </a:r>
            <a:br>
              <a:rPr lang="en-US" b="1" dirty="0"/>
            </a:br>
            <a:endParaRPr lang="en-US" dirty="0"/>
          </a:p>
        </p:txBody>
      </p:sp>
      <p:sp>
        <p:nvSpPr>
          <p:cNvPr id="3" name="Content Placeholder 2">
            <a:extLst>
              <a:ext uri="{FF2B5EF4-FFF2-40B4-BE49-F238E27FC236}">
                <a16:creationId xmlns:a16="http://schemas.microsoft.com/office/drawing/2014/main" id="{8E210412-9FCC-CC96-10D0-D8FD92E5AA21}"/>
              </a:ext>
            </a:extLst>
          </p:cNvPr>
          <p:cNvSpPr>
            <a:spLocks noGrp="1"/>
          </p:cNvSpPr>
          <p:nvPr>
            <p:ph idx="1"/>
          </p:nvPr>
        </p:nvSpPr>
        <p:spPr>
          <a:xfrm>
            <a:off x="1484310" y="1099457"/>
            <a:ext cx="10544404" cy="5431972"/>
          </a:xfrm>
        </p:spPr>
        <p:txBody>
          <a:bodyPr>
            <a:normAutofit/>
          </a:bodyPr>
          <a:lstStyle/>
          <a:p>
            <a:r>
              <a:rPr lang="en-US" dirty="0">
                <a:latin typeface="Times New Roman" panose="02020603050405020304" pitchFamily="18" charset="0"/>
                <a:cs typeface="Times New Roman" panose="02020603050405020304" pitchFamily="18" charset="0"/>
              </a:rPr>
              <a:t>As of 2026, GPS has evolved from a basic navigation tool into a critical digital infrastructure that supports industries, governments, and everyday life worldwide.</a:t>
            </a:r>
          </a:p>
          <a:p>
            <a:r>
              <a:rPr lang="en-US" b="1" dirty="0">
                <a:latin typeface="Times New Roman" panose="02020603050405020304" pitchFamily="18" charset="0"/>
                <a:cs typeface="Times New Roman" panose="02020603050405020304" pitchFamily="18" charset="0"/>
              </a:rPr>
              <a:t>Modern GPS III Satellites:</a:t>
            </a:r>
            <a:r>
              <a:rPr lang="en-US" dirty="0">
                <a:latin typeface="Times New Roman" panose="02020603050405020304" pitchFamily="18" charset="0"/>
                <a:cs typeface="Times New Roman" panose="02020603050405020304" pitchFamily="18" charset="0"/>
              </a:rPr>
              <a:t> New GPS III satellites provide stronger signals, higher accuracy, better resistance to jamming, and improved support for aviation, defense, and civilian users. </a:t>
            </a:r>
          </a:p>
          <a:p>
            <a:r>
              <a:rPr lang="en-US" b="1" dirty="0">
                <a:latin typeface="Times New Roman" panose="02020603050405020304" pitchFamily="18" charset="0"/>
                <a:cs typeface="Times New Roman" panose="02020603050405020304" pitchFamily="18" charset="0"/>
              </a:rPr>
              <a:t>Integration with AI and IoT:</a:t>
            </a:r>
            <a:r>
              <a:rPr lang="en-US" dirty="0">
                <a:latin typeface="Times New Roman" panose="02020603050405020304" pitchFamily="18" charset="0"/>
                <a:cs typeface="Times New Roman" panose="02020603050405020304" pitchFamily="18" charset="0"/>
              </a:rPr>
              <a:t> GPS is now connected with Artificial Intelligence (AI), Internet of Things (IoT) devices, and cloud platforms to deliver real-time location intelligence for smarter decision-making.</a:t>
            </a:r>
          </a:p>
          <a:p>
            <a:endParaRPr lang="en-US" dirty="0"/>
          </a:p>
        </p:txBody>
      </p:sp>
    </p:spTree>
    <p:extLst>
      <p:ext uri="{BB962C8B-B14F-4D97-AF65-F5344CB8AC3E}">
        <p14:creationId xmlns:p14="http://schemas.microsoft.com/office/powerpoint/2010/main" val="21645158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EDFB0-A658-DD74-AD42-0E0340BE6E3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Cont.……</a:t>
            </a:r>
            <a:endParaRPr lang="en-US" dirty="0"/>
          </a:p>
        </p:txBody>
      </p:sp>
      <p:sp>
        <p:nvSpPr>
          <p:cNvPr id="3" name="Content Placeholder 2">
            <a:extLst>
              <a:ext uri="{FF2B5EF4-FFF2-40B4-BE49-F238E27FC236}">
                <a16:creationId xmlns:a16="http://schemas.microsoft.com/office/drawing/2014/main" id="{AC74AD38-8079-FF55-F060-6011A93F5F81}"/>
              </a:ext>
            </a:extLst>
          </p:cNvPr>
          <p:cNvSpPr>
            <a:spLocks noGrp="1"/>
          </p:cNvSpPr>
          <p:nvPr>
            <p:ph idx="1"/>
          </p:nvPr>
        </p:nvSpPr>
        <p:spPr>
          <a:xfrm>
            <a:off x="1484310" y="1817915"/>
            <a:ext cx="10018713" cy="5040086"/>
          </a:xfrm>
        </p:spPr>
        <p:txBody>
          <a:bodyPr/>
          <a:lstStyle/>
          <a:p>
            <a:r>
              <a:rPr lang="en-US" b="1" dirty="0">
                <a:latin typeface="Times New Roman" panose="02020603050405020304" pitchFamily="18" charset="0"/>
                <a:cs typeface="Times New Roman" panose="02020603050405020304" pitchFamily="18" charset="0"/>
              </a:rPr>
              <a:t>Autonomous Systems: </a:t>
            </a:r>
            <a:r>
              <a:rPr lang="en-US" dirty="0">
                <a:latin typeface="Times New Roman" panose="02020603050405020304" pitchFamily="18" charset="0"/>
                <a:cs typeface="Times New Roman" panose="02020603050405020304" pitchFamily="18" charset="0"/>
              </a:rPr>
              <a:t>GPS plays a major role in self-driving cars, delivery drones, smart farming equipment, and robotic systems that require precise movement and positioning.</a:t>
            </a:r>
          </a:p>
          <a:p>
            <a:r>
              <a:rPr lang="en-US" b="1" dirty="0">
                <a:latin typeface="Times New Roman" panose="02020603050405020304" pitchFamily="18" charset="0"/>
                <a:cs typeface="Times New Roman" panose="02020603050405020304" pitchFamily="18" charset="0"/>
              </a:rPr>
              <a:t>Smart Cities and Infrastructure: </a:t>
            </a:r>
            <a:r>
              <a:rPr lang="en-US" dirty="0">
                <a:latin typeface="Times New Roman" panose="02020603050405020304" pitchFamily="18" charset="0"/>
                <a:cs typeface="Times New Roman" panose="02020603050405020304" pitchFamily="18" charset="0"/>
              </a:rPr>
              <a:t>Used in traffic management, public transport tracking, utility monitoring, and urban planning to improve city efficiency and safety.</a:t>
            </a:r>
          </a:p>
          <a:p>
            <a:r>
              <a:rPr lang="en-US" b="1" dirty="0">
                <a:latin typeface="Times New Roman" panose="02020603050405020304" pitchFamily="18" charset="0"/>
                <a:cs typeface="Times New Roman" panose="02020603050405020304" pitchFamily="18" charset="0"/>
              </a:rPr>
              <a:t>Financial and Communication Systems: </a:t>
            </a:r>
            <a:r>
              <a:rPr lang="en-US" dirty="0">
                <a:latin typeface="Times New Roman" panose="02020603050405020304" pitchFamily="18" charset="0"/>
                <a:cs typeface="Times New Roman" panose="02020603050405020304" pitchFamily="18" charset="0"/>
              </a:rPr>
              <a:t>GPS timing supports banking transactions, stock markets, mobile networks, and internet synchronization through highly accurate atomic clock signals.</a:t>
            </a:r>
          </a:p>
        </p:txBody>
      </p:sp>
    </p:spTree>
    <p:extLst>
      <p:ext uri="{BB962C8B-B14F-4D97-AF65-F5344CB8AC3E}">
        <p14:creationId xmlns:p14="http://schemas.microsoft.com/office/powerpoint/2010/main" val="9442537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71001-3EDB-EEA1-2FD5-974B5F7F152F}"/>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FDCAD435-CCC4-4CEE-29E6-CC1FDE65443F}"/>
              </a:ext>
            </a:extLst>
          </p:cNvPr>
          <p:cNvSpPr>
            <a:spLocks noGrp="1"/>
          </p:cNvSpPr>
          <p:nvPr>
            <p:ph idx="1"/>
          </p:nvPr>
        </p:nvSpPr>
        <p:spPr>
          <a:xfrm>
            <a:off x="1484310" y="1828800"/>
            <a:ext cx="10018713" cy="4615543"/>
          </a:xfrm>
        </p:spPr>
        <p:txBody>
          <a:bodyPr/>
          <a:lstStyle/>
          <a:p>
            <a:r>
              <a:rPr lang="en-US" b="1" dirty="0">
                <a:latin typeface="Times New Roman" panose="02020603050405020304" pitchFamily="18" charset="0"/>
                <a:cs typeface="Times New Roman" panose="02020603050405020304" pitchFamily="18" charset="0"/>
              </a:rPr>
              <a:t>Disaster Response and Environmental Monitoring: </a:t>
            </a:r>
            <a:r>
              <a:rPr lang="en-US" dirty="0">
                <a:latin typeface="Times New Roman" panose="02020603050405020304" pitchFamily="18" charset="0"/>
                <a:cs typeface="Times New Roman" panose="02020603050405020304" pitchFamily="18" charset="0"/>
              </a:rPr>
              <a:t>Helps monitor floods, earthquakes, climate change, wildlife movement, and emergency rescue operations across the world.</a:t>
            </a:r>
          </a:p>
          <a:p>
            <a:r>
              <a:rPr lang="en-US" b="1" dirty="0">
                <a:latin typeface="Times New Roman" panose="02020603050405020304" pitchFamily="18" charset="0"/>
                <a:cs typeface="Times New Roman" panose="02020603050405020304" pitchFamily="18" charset="0"/>
              </a:rPr>
              <a:t>Beyond Navigation: </a:t>
            </a:r>
            <a:r>
              <a:rPr lang="en-US" dirty="0">
                <a:latin typeface="Times New Roman" panose="02020603050405020304" pitchFamily="18" charset="0"/>
                <a:cs typeface="Times New Roman" panose="02020603050405020304" pitchFamily="18" charset="0"/>
              </a:rPr>
              <a:t>GPS is now essential for security, automation, research, communication, and global economic systems—not just for finding directions.</a:t>
            </a:r>
          </a:p>
        </p:txBody>
      </p:sp>
    </p:spTree>
    <p:extLst>
      <p:ext uri="{BB962C8B-B14F-4D97-AF65-F5344CB8AC3E}">
        <p14:creationId xmlns:p14="http://schemas.microsoft.com/office/powerpoint/2010/main" val="23064593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0CF76-3DAE-5F93-B5DF-98C7AEAE0714}"/>
              </a:ext>
            </a:extLst>
          </p:cNvPr>
          <p:cNvSpPr>
            <a:spLocks noGrp="1"/>
          </p:cNvSpPr>
          <p:nvPr>
            <p:ph type="title"/>
          </p:nvPr>
        </p:nvSpPr>
        <p:spPr>
          <a:xfrm>
            <a:off x="1669368" y="250371"/>
            <a:ext cx="10018713" cy="1850572"/>
          </a:xfrm>
        </p:spPr>
        <p:txBody>
          <a:bodyPr>
            <a:normAutofit/>
          </a:bodyPr>
          <a:lstStyle/>
          <a:p>
            <a:r>
              <a:rPr lang="en-US" b="1" dirty="0">
                <a:latin typeface="Times New Roman" panose="02020603050405020304" pitchFamily="18" charset="0"/>
                <a:cs typeface="Times New Roman" panose="02020603050405020304" pitchFamily="18" charset="0"/>
              </a:rPr>
              <a:t>How GPS works?</a:t>
            </a:r>
            <a:br>
              <a:rPr lang="en-US" dirty="0"/>
            </a:br>
            <a:endParaRPr lang="en-US" dirty="0"/>
          </a:p>
        </p:txBody>
      </p:sp>
      <p:sp>
        <p:nvSpPr>
          <p:cNvPr id="3" name="Content Placeholder 2">
            <a:extLst>
              <a:ext uri="{FF2B5EF4-FFF2-40B4-BE49-F238E27FC236}">
                <a16:creationId xmlns:a16="http://schemas.microsoft.com/office/drawing/2014/main" id="{08698BF0-A053-B034-7485-778CEB57621C}"/>
              </a:ext>
            </a:extLst>
          </p:cNvPr>
          <p:cNvSpPr>
            <a:spLocks noGrp="1"/>
          </p:cNvSpPr>
          <p:nvPr>
            <p:ph idx="1"/>
          </p:nvPr>
        </p:nvSpPr>
        <p:spPr>
          <a:xfrm>
            <a:off x="1484310" y="947057"/>
            <a:ext cx="10707690" cy="4724401"/>
          </a:xfrm>
        </p:spPr>
        <p:txBody>
          <a:bodyPr>
            <a:normAutofit/>
          </a:bodyPr>
          <a:lstStyle/>
          <a:p>
            <a:r>
              <a:rPr lang="en-US" dirty="0">
                <a:latin typeface="Times New Roman" panose="02020603050405020304" pitchFamily="18" charset="0"/>
                <a:cs typeface="Times New Roman" panose="02020603050405020304" pitchFamily="18" charset="0"/>
              </a:rPr>
              <a:t>Any instant of time, there are at least 4 GPS satellites in line of sight to a receiver on the earth. Each of these GPS satellites sends information about its position and the current time to the GPS receiver at fixed regular instants of time. This information is transmitted to the receiver in the form of signal which is then intercepted by the receiver devices. These signals are radio signals that travel with the speed of light. The distance between a GPS receiver and the satellite is calculated by finding the difference between the time the signal was sent from GPS satellite and the time the GPS receiver received the signal. </a:t>
            </a:r>
          </a:p>
          <a:p>
            <a:endParaRPr lang="en-US" dirty="0"/>
          </a:p>
        </p:txBody>
      </p:sp>
    </p:spTree>
    <p:extLst>
      <p:ext uri="{BB962C8B-B14F-4D97-AF65-F5344CB8AC3E}">
        <p14:creationId xmlns:p14="http://schemas.microsoft.com/office/powerpoint/2010/main" val="13481825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CCBDC-18FA-BA09-B8F4-5BB4AF762184}"/>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8C43E668-CCC9-7EAF-7251-E2BC38FB230A}"/>
              </a:ext>
            </a:extLst>
          </p:cNvPr>
          <p:cNvSpPr>
            <a:spLocks noGrp="1"/>
          </p:cNvSpPr>
          <p:nvPr>
            <p:ph idx="1"/>
          </p:nvPr>
        </p:nvSpPr>
        <p:spPr>
          <a:xfrm>
            <a:off x="1647596" y="1785257"/>
            <a:ext cx="10018713" cy="3026230"/>
          </a:xfrm>
        </p:spPr>
        <p:txBody>
          <a:bodyPr/>
          <a:lstStyle/>
          <a:p>
            <a:r>
              <a:rPr lang="en-US" dirty="0">
                <a:latin typeface="Times New Roman" panose="02020603050405020304" pitchFamily="18" charset="0"/>
                <a:cs typeface="Times New Roman" panose="02020603050405020304" pitchFamily="18" charset="0"/>
              </a:rPr>
              <a:t>Once the receiver receives the signal from at least three satellites, the receiver then points its location using trilateration process. A GPS requires at least 3 satellites to calculate 2-D position(latitude and longitude on a map). In this case, the GPS receiver assumes that it is located at mean sea level. However, it requires at least 4 satellites to find receivers 3-D position(latitude, longitude, and altitude).</a:t>
            </a:r>
            <a:endParaRPr lang="en-US" dirty="0"/>
          </a:p>
        </p:txBody>
      </p:sp>
    </p:spTree>
    <p:extLst>
      <p:ext uri="{BB962C8B-B14F-4D97-AF65-F5344CB8AC3E}">
        <p14:creationId xmlns:p14="http://schemas.microsoft.com/office/powerpoint/2010/main" val="29346991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E4E94-CB55-8EE9-BB13-4DC6FB3403F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 Three GPS Segments</a:t>
            </a:r>
            <a:br>
              <a:rPr lang="en-US" dirty="0"/>
            </a:br>
            <a:endParaRPr lang="en-US" dirty="0"/>
          </a:p>
        </p:txBody>
      </p:sp>
      <p:sp>
        <p:nvSpPr>
          <p:cNvPr id="3" name="Content Placeholder 2">
            <a:extLst>
              <a:ext uri="{FF2B5EF4-FFF2-40B4-BE49-F238E27FC236}">
                <a16:creationId xmlns:a16="http://schemas.microsoft.com/office/drawing/2014/main" id="{72E88F01-D1EE-1E5F-0934-BC9B49E4FC2D}"/>
              </a:ext>
            </a:extLst>
          </p:cNvPr>
          <p:cNvSpPr>
            <a:spLocks noGrp="1"/>
          </p:cNvSpPr>
          <p:nvPr>
            <p:ph idx="1"/>
          </p:nvPr>
        </p:nvSpPr>
        <p:spPr>
          <a:xfrm>
            <a:off x="1484310" y="1589315"/>
            <a:ext cx="10018713" cy="5138056"/>
          </a:xfrm>
        </p:spPr>
        <p:txBody>
          <a:bodyPr>
            <a:normAutofit/>
          </a:bodyPr>
          <a:lstStyle/>
          <a:p>
            <a:r>
              <a:rPr lang="en-US" dirty="0">
                <a:latin typeface="Times New Roman" panose="02020603050405020304" pitchFamily="18" charset="0"/>
                <a:cs typeface="Times New Roman" panose="02020603050405020304" pitchFamily="18" charset="0"/>
              </a:rPr>
              <a:t>GPS operates through a coordinated dance between three distinct parts:</a:t>
            </a:r>
          </a:p>
          <a:p>
            <a:pPr lvl="0"/>
            <a:r>
              <a:rPr lang="en-US" b="1" dirty="0">
                <a:latin typeface="Times New Roman" panose="02020603050405020304" pitchFamily="18" charset="0"/>
                <a:cs typeface="Times New Roman" panose="02020603050405020304" pitchFamily="18" charset="0"/>
              </a:rPr>
              <a:t>The Space Segment:</a:t>
            </a:r>
            <a:r>
              <a:rPr lang="en-US" dirty="0">
                <a:latin typeface="Times New Roman" panose="02020603050405020304" pitchFamily="18" charset="0"/>
                <a:cs typeface="Times New Roman" panose="02020603050405020304" pitchFamily="18" charset="0"/>
              </a:rPr>
              <a:t> A constellation of over 24 satellites orbiting Earth at about 20,000 km. They are arranged so that at least four satellites are visible from virtually any point on the planet at all times.</a:t>
            </a:r>
          </a:p>
          <a:p>
            <a:pPr lvl="0"/>
            <a:r>
              <a:rPr lang="en-US" b="1" dirty="0">
                <a:latin typeface="Times New Roman" panose="02020603050405020304" pitchFamily="18" charset="0"/>
                <a:cs typeface="Times New Roman" panose="02020603050405020304" pitchFamily="18" charset="0"/>
              </a:rPr>
              <a:t>The Control Segment:</a:t>
            </a:r>
            <a:r>
              <a:rPr lang="en-US" dirty="0">
                <a:latin typeface="Times New Roman" panose="02020603050405020304" pitchFamily="18" charset="0"/>
                <a:cs typeface="Times New Roman" panose="02020603050405020304" pitchFamily="18" charset="0"/>
              </a:rPr>
              <a:t> Ground stations around the world that monitor the satellites, ensuring they stay in the correct orbit and their internal clocks remain incredibly accurate.</a:t>
            </a:r>
          </a:p>
          <a:p>
            <a:pPr lvl="0"/>
            <a:r>
              <a:rPr lang="en-US" b="1" dirty="0">
                <a:latin typeface="Times New Roman" panose="02020603050405020304" pitchFamily="18" charset="0"/>
                <a:cs typeface="Times New Roman" panose="02020603050405020304" pitchFamily="18" charset="0"/>
              </a:rPr>
              <a:t>The User Segment:</a:t>
            </a:r>
            <a:r>
              <a:rPr lang="en-US" dirty="0">
                <a:latin typeface="Times New Roman" panose="02020603050405020304" pitchFamily="18" charset="0"/>
                <a:cs typeface="Times New Roman" panose="02020603050405020304" pitchFamily="18" charset="0"/>
              </a:rPr>
              <a:t> Your smartphone, car navigation system, or watch. These devices only </a:t>
            </a:r>
            <a:r>
              <a:rPr lang="en-US" b="1" dirty="0">
                <a:latin typeface="Times New Roman" panose="02020603050405020304" pitchFamily="18" charset="0"/>
                <a:cs typeface="Times New Roman" panose="02020603050405020304" pitchFamily="18" charset="0"/>
              </a:rPr>
              <a:t>receive</a:t>
            </a:r>
            <a:r>
              <a:rPr lang="en-US" dirty="0">
                <a:latin typeface="Times New Roman" panose="02020603050405020304" pitchFamily="18" charset="0"/>
                <a:cs typeface="Times New Roman" panose="02020603050405020304" pitchFamily="18" charset="0"/>
              </a:rPr>
              <a:t> signals; they do not send data back to the satellites.</a:t>
            </a:r>
          </a:p>
          <a:p>
            <a:pPr marL="0" indent="0">
              <a:buNone/>
            </a:pPr>
            <a:r>
              <a:rPr lang="en-US" dirty="0"/>
              <a:t> </a:t>
            </a:r>
          </a:p>
          <a:p>
            <a:endParaRPr lang="en-US" dirty="0"/>
          </a:p>
        </p:txBody>
      </p:sp>
    </p:spTree>
    <p:extLst>
      <p:ext uri="{BB962C8B-B14F-4D97-AF65-F5344CB8AC3E}">
        <p14:creationId xmlns:p14="http://schemas.microsoft.com/office/powerpoint/2010/main" val="21904442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95969-BF1F-0070-855E-68B76C27E7A6}"/>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US" dirty="0"/>
          </a:p>
        </p:txBody>
      </p:sp>
      <p:pic>
        <p:nvPicPr>
          <p:cNvPr id="4" name="Content Placeholder 3" descr="space satellites in eccentric orbits">
            <a:extLst>
              <a:ext uri="{FF2B5EF4-FFF2-40B4-BE49-F238E27FC236}">
                <a16:creationId xmlns:a16="http://schemas.microsoft.com/office/drawing/2014/main" id="{D7604C23-86EA-53A1-6A14-32343805849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632858" y="1997530"/>
            <a:ext cx="9742714" cy="4844143"/>
          </a:xfrm>
          <a:prstGeom prst="rect">
            <a:avLst/>
          </a:prstGeom>
          <a:noFill/>
          <a:ln>
            <a:noFill/>
          </a:ln>
        </p:spPr>
      </p:pic>
    </p:spTree>
    <p:extLst>
      <p:ext uri="{BB962C8B-B14F-4D97-AF65-F5344CB8AC3E}">
        <p14:creationId xmlns:p14="http://schemas.microsoft.com/office/powerpoint/2010/main" val="12829345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B1B8F-A9A0-2E15-FA31-C1CA849D9494}"/>
              </a:ext>
            </a:extLst>
          </p:cNvPr>
          <p:cNvSpPr>
            <a:spLocks noGrp="1"/>
          </p:cNvSpPr>
          <p:nvPr>
            <p:ph type="title"/>
          </p:nvPr>
        </p:nvSpPr>
        <p:spPr>
          <a:xfrm>
            <a:off x="1484311" y="685801"/>
            <a:ext cx="10018713" cy="1153886"/>
          </a:xfrm>
        </p:spPr>
        <p:txBody>
          <a:bodyPr/>
          <a:lstStyle/>
          <a:p>
            <a:r>
              <a:rPr lang="en-US" b="1" dirty="0">
                <a:latin typeface="Times New Roman" panose="02020603050405020304" pitchFamily="18" charset="0"/>
                <a:cs typeface="Times New Roman" panose="02020603050405020304" pitchFamily="18" charset="0"/>
              </a:rPr>
              <a:t>GNSS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139573-49BF-41E6-D1C9-194BDC352115}"/>
              </a:ext>
            </a:extLst>
          </p:cNvPr>
          <p:cNvSpPr>
            <a:spLocks noGrp="1"/>
          </p:cNvSpPr>
          <p:nvPr>
            <p:ph idx="1"/>
          </p:nvPr>
        </p:nvSpPr>
        <p:spPr>
          <a:xfrm>
            <a:off x="1484310" y="1839687"/>
            <a:ext cx="10018713" cy="5018314"/>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While </a:t>
            </a:r>
            <a:r>
              <a:rPr lang="en-US" b="1" dirty="0">
                <a:latin typeface="Times New Roman" panose="02020603050405020304" pitchFamily="18" charset="0"/>
                <a:cs typeface="Times New Roman" panose="02020603050405020304" pitchFamily="18" charset="0"/>
              </a:rPr>
              <a:t>GPS</a:t>
            </a:r>
            <a:r>
              <a:rPr lang="en-US" dirty="0">
                <a:latin typeface="Times New Roman" panose="02020603050405020304" pitchFamily="18" charset="0"/>
                <a:cs typeface="Times New Roman" panose="02020603050405020304" pitchFamily="18" charset="0"/>
              </a:rPr>
              <a:t> is the name most people know, it is actually just one part of a much larger concept called </a:t>
            </a:r>
            <a:r>
              <a:rPr lang="en-US" b="1" dirty="0">
                <a:latin typeface="Times New Roman" panose="02020603050405020304" pitchFamily="18" charset="0"/>
                <a:cs typeface="Times New Roman" panose="02020603050405020304" pitchFamily="18" charset="0"/>
              </a:rPr>
              <a:t>GNSS</a:t>
            </a:r>
            <a:r>
              <a:rPr lang="en-US" dirty="0">
                <a:latin typeface="Times New Roman" panose="02020603050405020304" pitchFamily="18" charset="0"/>
                <a:cs typeface="Times New Roman" panose="02020603050405020304" pitchFamily="18" charset="0"/>
              </a:rPr>
              <a:t> (Global Navigation Satellite System).</a:t>
            </a:r>
          </a:p>
          <a:p>
            <a:pPr marL="0" indent="0">
              <a:buNone/>
            </a:pPr>
            <a:r>
              <a:rPr lang="en-US" dirty="0">
                <a:latin typeface="Times New Roman" panose="02020603050405020304" pitchFamily="18" charset="0"/>
                <a:cs typeface="Times New Roman" panose="02020603050405020304" pitchFamily="18" charset="0"/>
              </a:rPr>
              <a:t>GNSS as the umbrella term (like "Smartphone") and "GPS" as a specific brand or model (like "iPhone"). </a:t>
            </a:r>
          </a:p>
          <a:p>
            <a:r>
              <a:rPr lang="en-US" b="1" dirty="0">
                <a:latin typeface="Times New Roman" panose="02020603050405020304" pitchFamily="18" charset="0"/>
                <a:cs typeface="Times New Roman" panose="02020603050405020304" pitchFamily="18" charset="0"/>
              </a:rPr>
              <a:t>What is GNSS?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GNSS refers to any satellite constellation that provides signals from space, transmitting positioning and timing data to receivers on the ground. A GNSS-capable receiver can pick up signals from multiple different systems at once, making it much more accurate and reliable than a device that only uses GPS.</a:t>
            </a:r>
          </a:p>
          <a:p>
            <a:endParaRPr lang="en-US" dirty="0"/>
          </a:p>
        </p:txBody>
      </p:sp>
    </p:spTree>
    <p:extLst>
      <p:ext uri="{BB962C8B-B14F-4D97-AF65-F5344CB8AC3E}">
        <p14:creationId xmlns:p14="http://schemas.microsoft.com/office/powerpoint/2010/main" val="23135141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A1416-7955-9835-D03B-7579D28FE9F2}"/>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4C5F8122-EB52-ACCD-9ECC-AA5FA6499388}"/>
              </a:ext>
            </a:extLst>
          </p:cNvPr>
          <p:cNvSpPr>
            <a:spLocks noGrp="1"/>
          </p:cNvSpPr>
          <p:nvPr>
            <p:ph idx="1"/>
          </p:nvPr>
        </p:nvSpPr>
        <p:spPr>
          <a:xfrm>
            <a:off x="1821768" y="-370113"/>
            <a:ext cx="10018713" cy="7086600"/>
          </a:xfrm>
        </p:spPr>
        <p:txBody>
          <a:bodyPr>
            <a:normAutofit/>
          </a:bodyPr>
          <a:lstStyle/>
          <a:p>
            <a:r>
              <a:rPr lang="en-US" b="1" dirty="0">
                <a:latin typeface="Times New Roman" panose="02020603050405020304" pitchFamily="18" charset="0"/>
                <a:cs typeface="Times New Roman" panose="02020603050405020304" pitchFamily="18" charset="0"/>
              </a:rPr>
              <a:t>The Major Global Systems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Currently, there are four "Global" systems that cover the entire planet:</a:t>
            </a:r>
          </a:p>
          <a:p>
            <a:endParaRPr lang="en-US"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16156061-1379-598E-A50D-B9A89AB7C337}"/>
              </a:ext>
            </a:extLst>
          </p:cNvPr>
          <p:cNvGraphicFramePr>
            <a:graphicFrameLocks noGrp="1"/>
          </p:cNvGraphicFramePr>
          <p:nvPr>
            <p:extLst>
              <p:ext uri="{D42A27DB-BD31-4B8C-83A1-F6EECF244321}">
                <p14:modId xmlns:p14="http://schemas.microsoft.com/office/powerpoint/2010/main" val="2602559746"/>
              </p:ext>
            </p:extLst>
          </p:nvPr>
        </p:nvGraphicFramePr>
        <p:xfrm>
          <a:off x="2177143" y="3581400"/>
          <a:ext cx="9024258" cy="2688770"/>
        </p:xfrm>
        <a:graphic>
          <a:graphicData uri="http://schemas.openxmlformats.org/drawingml/2006/table">
            <a:tbl>
              <a:tblPr firstRow="1" firstCol="1" bandRow="1">
                <a:tableStyleId>{5C22544A-7EE6-4342-B048-85BDC9FD1C3A}</a:tableStyleId>
              </a:tblPr>
              <a:tblGrid>
                <a:gridCol w="3008086">
                  <a:extLst>
                    <a:ext uri="{9D8B030D-6E8A-4147-A177-3AD203B41FA5}">
                      <a16:colId xmlns:a16="http://schemas.microsoft.com/office/drawing/2014/main" val="1293966854"/>
                    </a:ext>
                  </a:extLst>
                </a:gridCol>
                <a:gridCol w="3008086">
                  <a:extLst>
                    <a:ext uri="{9D8B030D-6E8A-4147-A177-3AD203B41FA5}">
                      <a16:colId xmlns:a16="http://schemas.microsoft.com/office/drawing/2014/main" val="917764352"/>
                    </a:ext>
                  </a:extLst>
                </a:gridCol>
                <a:gridCol w="3008086">
                  <a:extLst>
                    <a:ext uri="{9D8B030D-6E8A-4147-A177-3AD203B41FA5}">
                      <a16:colId xmlns:a16="http://schemas.microsoft.com/office/drawing/2014/main" val="3313644069"/>
                    </a:ext>
                  </a:extLst>
                </a:gridCol>
              </a:tblGrid>
              <a:tr h="537754">
                <a:tc>
                  <a:txBody>
                    <a:bodyPr/>
                    <a:lstStyle/>
                    <a:p>
                      <a:pPr marL="0" marR="0">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System</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Country/Region</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Satellites (approx.)</a:t>
                      </a:r>
                      <a:endParaRPr lang="en-US"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17922889"/>
                  </a:ext>
                </a:extLst>
              </a:tr>
              <a:tr h="537754">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GPS</a:t>
                      </a:r>
                      <a:endParaRPr lang="en-US"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United States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31</a:t>
                      </a:r>
                      <a:endParaRPr lang="en-US"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74304727"/>
                  </a:ext>
                </a:extLst>
              </a:tr>
              <a:tr h="537754">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GLONASS</a:t>
                      </a:r>
                      <a:endParaRPr lang="en-US"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Russia</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24</a:t>
                      </a:r>
                      <a:endParaRPr lang="en-US"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58471318"/>
                  </a:ext>
                </a:extLst>
              </a:tr>
              <a:tr h="537754">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Galileo</a:t>
                      </a:r>
                      <a:endParaRPr lang="en-US"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European Union</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26+</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71604837"/>
                  </a:ext>
                </a:extLst>
              </a:tr>
              <a:tr h="537754">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BeiDou</a:t>
                      </a:r>
                      <a:endParaRPr lang="en-US"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China</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dirty="0">
                          <a:effectLst/>
                          <a:latin typeface="Times New Roman" panose="02020603050405020304" pitchFamily="18" charset="0"/>
                          <a:cs typeface="Times New Roman" panose="02020603050405020304" pitchFamily="18" charset="0"/>
                        </a:rPr>
                        <a:t>35+</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3092389"/>
                  </a:ext>
                </a:extLst>
              </a:tr>
            </a:tbl>
          </a:graphicData>
        </a:graphic>
      </p:graphicFrame>
    </p:spTree>
    <p:extLst>
      <p:ext uri="{BB962C8B-B14F-4D97-AF65-F5344CB8AC3E}">
        <p14:creationId xmlns:p14="http://schemas.microsoft.com/office/powerpoint/2010/main" val="6680679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439D-14B3-90C6-2B24-776930AF992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Categories of GPS</a:t>
            </a:r>
            <a:br>
              <a:rPr lang="en-US" dirty="0"/>
            </a:br>
            <a:endParaRPr lang="en-US" dirty="0"/>
          </a:p>
        </p:txBody>
      </p:sp>
      <p:sp>
        <p:nvSpPr>
          <p:cNvPr id="3" name="Content Placeholder 2">
            <a:extLst>
              <a:ext uri="{FF2B5EF4-FFF2-40B4-BE49-F238E27FC236}">
                <a16:creationId xmlns:a16="http://schemas.microsoft.com/office/drawing/2014/main" id="{E60FBA71-CC97-50C5-AD82-2FA51D41D329}"/>
              </a:ext>
            </a:extLst>
          </p:cNvPr>
          <p:cNvSpPr>
            <a:spLocks noGrp="1"/>
          </p:cNvSpPr>
          <p:nvPr>
            <p:ph idx="1"/>
          </p:nvPr>
        </p:nvSpPr>
        <p:spPr>
          <a:xfrm>
            <a:off x="1484310" y="1099457"/>
            <a:ext cx="10707690" cy="6161314"/>
          </a:xfrm>
        </p:spPr>
        <p:txBody>
          <a:bodyPr>
            <a:normAutofit/>
          </a:bodyPr>
          <a:lstStyle/>
          <a:p>
            <a:pPr lvl="0"/>
            <a:r>
              <a:rPr lang="en-US" b="1" dirty="0">
                <a:latin typeface="Times New Roman" panose="02020603050405020304" pitchFamily="18" charset="0"/>
                <a:cs typeface="Times New Roman" panose="02020603050405020304" pitchFamily="18" charset="0"/>
              </a:rPr>
              <a:t>By User/Application:</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Consumer-Grade:</a:t>
            </a:r>
            <a:r>
              <a:rPr lang="en-US" dirty="0">
                <a:latin typeface="Times New Roman" panose="02020603050405020304" pitchFamily="18" charset="0"/>
                <a:cs typeface="Times New Roman" panose="02020603050405020304" pitchFamily="18" charset="0"/>
              </a:rPr>
              <a:t> Found in smartphones, cars, and smartwatches.</a:t>
            </a:r>
          </a:p>
          <a:p>
            <a:pPr lvl="1"/>
            <a:r>
              <a:rPr lang="en-US" b="1" dirty="0">
                <a:latin typeface="Times New Roman" panose="02020603050405020304" pitchFamily="18" charset="0"/>
                <a:cs typeface="Times New Roman" panose="02020603050405020304" pitchFamily="18" charset="0"/>
              </a:rPr>
              <a:t>Professional-Grade:</a:t>
            </a:r>
            <a:r>
              <a:rPr lang="en-US" dirty="0">
                <a:latin typeface="Times New Roman" panose="02020603050405020304" pitchFamily="18" charset="0"/>
                <a:cs typeface="Times New Roman" panose="02020603050405020304" pitchFamily="18" charset="0"/>
              </a:rPr>
              <a:t> Used for surveying, agriculture, and high-precision mapping (centimeter accuracy).</a:t>
            </a:r>
          </a:p>
          <a:p>
            <a:pPr lvl="1"/>
            <a:r>
              <a:rPr lang="en-US" b="1" dirty="0">
                <a:latin typeface="Times New Roman" panose="02020603050405020304" pitchFamily="18" charset="0"/>
                <a:cs typeface="Times New Roman" panose="02020603050405020304" pitchFamily="18" charset="0"/>
              </a:rPr>
              <a:t>Timing Receivers:</a:t>
            </a:r>
            <a:r>
              <a:rPr lang="en-US" dirty="0">
                <a:latin typeface="Times New Roman" panose="02020603050405020304" pitchFamily="18" charset="0"/>
                <a:cs typeface="Times New Roman" panose="02020603050405020304" pitchFamily="18" charset="0"/>
              </a:rPr>
              <a:t> Used in financial markets, power grids, and cellular base stations for precise time synchronization.</a:t>
            </a:r>
          </a:p>
          <a:p>
            <a:pPr lvl="0"/>
            <a:r>
              <a:rPr lang="en-US" b="1" dirty="0">
                <a:latin typeface="Times New Roman" panose="02020603050405020304" pitchFamily="18" charset="0"/>
                <a:cs typeface="Times New Roman" panose="02020603050405020304" pitchFamily="18" charset="0"/>
              </a:rPr>
              <a:t>By Frequency:</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Single-Frequency (L1):</a:t>
            </a:r>
            <a:r>
              <a:rPr lang="en-US" dirty="0">
                <a:latin typeface="Times New Roman" panose="02020603050405020304" pitchFamily="18" charset="0"/>
                <a:cs typeface="Times New Roman" panose="02020603050405020304" pitchFamily="18" charset="0"/>
              </a:rPr>
              <a:t> Standard, lower cost, average accuracy.</a:t>
            </a:r>
          </a:p>
          <a:p>
            <a:pPr lvl="1"/>
            <a:r>
              <a:rPr lang="en-US" b="1" dirty="0">
                <a:latin typeface="Times New Roman" panose="02020603050405020304" pitchFamily="18" charset="0"/>
                <a:cs typeface="Times New Roman" panose="02020603050405020304" pitchFamily="18" charset="0"/>
              </a:rPr>
              <a:t>Dual-Frequency (L1/L2 or L1/L5):</a:t>
            </a:r>
            <a:r>
              <a:rPr lang="en-US" dirty="0">
                <a:latin typeface="Times New Roman" panose="02020603050405020304" pitchFamily="18" charset="0"/>
                <a:cs typeface="Times New Roman" panose="02020603050405020304" pitchFamily="18" charset="0"/>
              </a:rPr>
              <a:t> Higher accuracy, eliminates atmospheric delays.</a:t>
            </a:r>
          </a:p>
          <a:p>
            <a:endParaRPr lang="en-US" dirty="0"/>
          </a:p>
        </p:txBody>
      </p:sp>
    </p:spTree>
    <p:extLst>
      <p:ext uri="{BB962C8B-B14F-4D97-AF65-F5344CB8AC3E}">
        <p14:creationId xmlns:p14="http://schemas.microsoft.com/office/powerpoint/2010/main" val="4276679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80FBF-7496-F91D-DFAD-F6C0210E2817}"/>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331B9DA8-5EA3-F2EA-A5C7-AF19E56812DE}"/>
              </a:ext>
            </a:extLst>
          </p:cNvPr>
          <p:cNvSpPr>
            <a:spLocks noGrp="1"/>
          </p:cNvSpPr>
          <p:nvPr>
            <p:ph idx="1"/>
          </p:nvPr>
        </p:nvSpPr>
        <p:spPr>
          <a:xfrm>
            <a:off x="1484310" y="1502229"/>
            <a:ext cx="10018713" cy="4288971"/>
          </a:xfrm>
        </p:spPr>
        <p:txBody>
          <a:bodyPr/>
          <a:lstStyle/>
          <a:p>
            <a:pPr lvl="0"/>
            <a:r>
              <a:rPr lang="en-US" b="1" dirty="0">
                <a:latin typeface="Times New Roman" panose="02020603050405020304" pitchFamily="18" charset="0"/>
                <a:cs typeface="Times New Roman" panose="02020603050405020304" pitchFamily="18" charset="0"/>
              </a:rPr>
              <a:t>By Technology:</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DGPS (Differential GPS):</a:t>
            </a:r>
            <a:r>
              <a:rPr lang="en-US" dirty="0">
                <a:latin typeface="Times New Roman" panose="02020603050405020304" pitchFamily="18" charset="0"/>
                <a:cs typeface="Times New Roman" panose="02020603050405020304" pitchFamily="18" charset="0"/>
              </a:rPr>
              <a:t> Uses ground-based stations to improve accuracy.</a:t>
            </a:r>
          </a:p>
          <a:p>
            <a:pPr lvl="1"/>
            <a:r>
              <a:rPr lang="en-US" b="1" dirty="0">
                <a:latin typeface="Times New Roman" panose="02020603050405020304" pitchFamily="18" charset="0"/>
                <a:cs typeface="Times New Roman" panose="02020603050405020304" pitchFamily="18" charset="0"/>
              </a:rPr>
              <a:t>GNSS Receivers:</a:t>
            </a:r>
            <a:r>
              <a:rPr lang="en-US" dirty="0">
                <a:latin typeface="Times New Roman" panose="02020603050405020304" pitchFamily="18" charset="0"/>
                <a:cs typeface="Times New Roman" panose="02020603050405020304" pitchFamily="18" charset="0"/>
              </a:rPr>
              <a:t> Modern receivers that track GPS, GLONASS (Russia), Galileo (EU), and BeiDou (China) simultaneously. </a:t>
            </a:r>
          </a:p>
          <a:p>
            <a:endParaRPr lang="en-US" dirty="0"/>
          </a:p>
        </p:txBody>
      </p:sp>
    </p:spTree>
    <p:extLst>
      <p:ext uri="{BB962C8B-B14F-4D97-AF65-F5344CB8AC3E}">
        <p14:creationId xmlns:p14="http://schemas.microsoft.com/office/powerpoint/2010/main" val="37544536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C412D-D866-C127-0BAE-DBD33462A1D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Differential GPS[DGPS]</a:t>
            </a:r>
            <a:br>
              <a:rPr lang="en-US" dirty="0"/>
            </a:br>
            <a:endParaRPr lang="en-US" dirty="0"/>
          </a:p>
        </p:txBody>
      </p:sp>
      <p:sp>
        <p:nvSpPr>
          <p:cNvPr id="3" name="Content Placeholder 2">
            <a:extLst>
              <a:ext uri="{FF2B5EF4-FFF2-40B4-BE49-F238E27FC236}">
                <a16:creationId xmlns:a16="http://schemas.microsoft.com/office/drawing/2014/main" id="{B8A9E8B5-3070-1852-2383-F87EE7F350F4}"/>
              </a:ext>
            </a:extLst>
          </p:cNvPr>
          <p:cNvSpPr>
            <a:spLocks noGrp="1"/>
          </p:cNvSpPr>
          <p:nvPr>
            <p:ph idx="1"/>
          </p:nvPr>
        </p:nvSpPr>
        <p:spPr>
          <a:xfrm>
            <a:off x="1484310" y="1447800"/>
            <a:ext cx="10018713" cy="5138057"/>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DGPS is an improvement over GPS that provides enhanced location accuracy Working:</a:t>
            </a:r>
          </a:p>
          <a:p>
            <a:pPr lvl="0"/>
            <a:r>
              <a:rPr lang="en-US" dirty="0">
                <a:latin typeface="Times New Roman" panose="02020603050405020304" pitchFamily="18" charset="0"/>
                <a:cs typeface="Times New Roman" panose="02020603050405020304" pitchFamily="18" charset="0"/>
              </a:rPr>
              <a:t>The GPS receiver also called as the base station must be set up at a precisely known location</a:t>
            </a:r>
          </a:p>
          <a:p>
            <a:pPr lvl="0"/>
            <a:r>
              <a:rPr lang="en-US" dirty="0">
                <a:latin typeface="Times New Roman" panose="02020603050405020304" pitchFamily="18" charset="0"/>
                <a:cs typeface="Times New Roman" panose="02020603050405020304" pitchFamily="18" charset="0"/>
              </a:rPr>
              <a:t>The base station receiver calculates it's position based on the satellite signals and compares it's location to the known location</a:t>
            </a:r>
          </a:p>
          <a:p>
            <a:pPr lvl="0"/>
            <a:r>
              <a:rPr lang="en-US" dirty="0">
                <a:latin typeface="Times New Roman" panose="02020603050405020304" pitchFamily="18" charset="0"/>
                <a:cs typeface="Times New Roman" panose="02020603050405020304" pitchFamily="18" charset="0"/>
              </a:rPr>
              <a:t>The difference between the two locations is applied to the data recorded by the GPS receiver</a:t>
            </a:r>
          </a:p>
          <a:p>
            <a:pPr lvl="0"/>
            <a:r>
              <a:rPr lang="en-US" dirty="0">
                <a:latin typeface="Times New Roman" panose="02020603050405020304" pitchFamily="18" charset="0"/>
                <a:cs typeface="Times New Roman" panose="02020603050405020304" pitchFamily="18" charset="0"/>
              </a:rPr>
              <a:t>Provides position accuracy in sub-meter to cm range</a:t>
            </a:r>
          </a:p>
          <a:p>
            <a:endParaRPr lang="en-US" dirty="0"/>
          </a:p>
        </p:txBody>
      </p:sp>
    </p:spTree>
    <p:extLst>
      <p:ext uri="{BB962C8B-B14F-4D97-AF65-F5344CB8AC3E}">
        <p14:creationId xmlns:p14="http://schemas.microsoft.com/office/powerpoint/2010/main" val="18732049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BC66-5D41-88D1-8A20-136DF5EBC531}"/>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272FAF9B-1B71-B000-2742-269370EA4720}"/>
              </a:ext>
            </a:extLst>
          </p:cNvPr>
          <p:cNvSpPr>
            <a:spLocks noGrp="1"/>
          </p:cNvSpPr>
          <p:nvPr>
            <p:ph idx="1"/>
          </p:nvPr>
        </p:nvSpPr>
        <p:spPr>
          <a:xfrm>
            <a:off x="1484310" y="1153887"/>
            <a:ext cx="10018713" cy="4637314"/>
          </a:xfrm>
        </p:spPr>
        <p:txBody>
          <a:bodyPr/>
          <a:lstStyle/>
          <a:p>
            <a:r>
              <a:rPr lang="en-US" dirty="0">
                <a:latin typeface="Times New Roman" panose="02020603050405020304" pitchFamily="18" charset="0"/>
                <a:cs typeface="Times New Roman" panose="02020603050405020304" pitchFamily="18" charset="0"/>
              </a:rPr>
              <a:t>DGPS uses a network of fixed ground-based stations to broadcast the difference between the positions indicated by the GPS satellite systems and the known fixed positions. These stations broadcast the difference between the measured satellite pseudo-ranges and actual pseudo-ranges and the receiver stations may correct their pseudo-ranges by the same amount.</a:t>
            </a:r>
          </a:p>
          <a:p>
            <a:endParaRPr lang="en-US" dirty="0"/>
          </a:p>
        </p:txBody>
      </p:sp>
    </p:spTree>
    <p:extLst>
      <p:ext uri="{BB962C8B-B14F-4D97-AF65-F5344CB8AC3E}">
        <p14:creationId xmlns:p14="http://schemas.microsoft.com/office/powerpoint/2010/main" val="33594496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6D06B-1D46-DA3F-61B4-3B9120B087B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Key Uses of GPS</a:t>
            </a:r>
            <a:br>
              <a:rPr lang="en-US" dirty="0"/>
            </a:br>
            <a:endParaRPr lang="en-US" dirty="0"/>
          </a:p>
        </p:txBody>
      </p:sp>
      <p:sp>
        <p:nvSpPr>
          <p:cNvPr id="3" name="Content Placeholder 2">
            <a:extLst>
              <a:ext uri="{FF2B5EF4-FFF2-40B4-BE49-F238E27FC236}">
                <a16:creationId xmlns:a16="http://schemas.microsoft.com/office/drawing/2014/main" id="{6A0F00BD-0BFB-E4EE-6113-735FAB2FC33F}"/>
              </a:ext>
            </a:extLst>
          </p:cNvPr>
          <p:cNvSpPr>
            <a:spLocks noGrp="1"/>
          </p:cNvSpPr>
          <p:nvPr>
            <p:ph idx="1"/>
          </p:nvPr>
        </p:nvSpPr>
        <p:spPr>
          <a:xfrm>
            <a:off x="1484310" y="1676401"/>
            <a:ext cx="10018713" cy="4778828"/>
          </a:xfrm>
        </p:spPr>
        <p:txBody>
          <a:bodyPr>
            <a:normAutofit/>
          </a:bodyPr>
          <a:lstStyle/>
          <a:p>
            <a:pPr lvl="0"/>
            <a:r>
              <a:rPr lang="en-US" b="1" dirty="0">
                <a:latin typeface="Times New Roman" panose="02020603050405020304" pitchFamily="18" charset="0"/>
                <a:cs typeface="Times New Roman" panose="02020603050405020304" pitchFamily="18" charset="0"/>
              </a:rPr>
              <a:t>Navigation</a:t>
            </a:r>
            <a:r>
              <a:rPr lang="en-US" dirty="0">
                <a:latin typeface="Times New Roman" panose="02020603050405020304" pitchFamily="18" charset="0"/>
                <a:cs typeface="Times New Roman" panose="02020603050405020304" pitchFamily="18" charset="0"/>
              </a:rPr>
              <a:t>: GPS helps people find their way from one place to another. It's used in car navigation systems, smartphone apps, and by hikers and sailors. GPS tells you where you are and how to get to where you want to go.</a:t>
            </a:r>
          </a:p>
          <a:p>
            <a:pPr lvl="0"/>
            <a:r>
              <a:rPr lang="en-US" b="1" dirty="0">
                <a:latin typeface="Times New Roman" panose="02020603050405020304" pitchFamily="18" charset="0"/>
                <a:cs typeface="Times New Roman" panose="02020603050405020304" pitchFamily="18" charset="0"/>
              </a:rPr>
              <a:t>Mapping: </a:t>
            </a:r>
            <a:r>
              <a:rPr lang="en-US" dirty="0">
                <a:latin typeface="Times New Roman" panose="02020603050405020304" pitchFamily="18" charset="0"/>
                <a:cs typeface="Times New Roman" panose="02020603050405020304" pitchFamily="18" charset="0"/>
              </a:rPr>
              <a:t>GPS makes it easier to create accurate maps. Surveyors use GPS to mark exact locations of roads, buildings, and natural features. This helps make detailed maps for cities, forests, and other areas.</a:t>
            </a:r>
          </a:p>
          <a:p>
            <a:pPr lvl="0"/>
            <a:r>
              <a:rPr lang="en-US" b="1" dirty="0">
                <a:latin typeface="Times New Roman" panose="02020603050405020304" pitchFamily="18" charset="0"/>
                <a:cs typeface="Times New Roman" panose="02020603050405020304" pitchFamily="18" charset="0"/>
              </a:rPr>
              <a:t>Tracking: </a:t>
            </a:r>
            <a:r>
              <a:rPr lang="en-US" dirty="0">
                <a:latin typeface="Times New Roman" panose="02020603050405020304" pitchFamily="18" charset="0"/>
                <a:cs typeface="Times New Roman" panose="02020603050405020304" pitchFamily="18" charset="0"/>
              </a:rPr>
              <a:t>GPS can follow the movement of things or animals. Companies use it to keep track of their trucks. Scientists use GPS to study animal migration.</a:t>
            </a:r>
          </a:p>
          <a:p>
            <a:endParaRPr lang="en-US" dirty="0"/>
          </a:p>
        </p:txBody>
      </p:sp>
    </p:spTree>
    <p:extLst>
      <p:ext uri="{BB962C8B-B14F-4D97-AF65-F5344CB8AC3E}">
        <p14:creationId xmlns:p14="http://schemas.microsoft.com/office/powerpoint/2010/main" val="19522605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EE732-2666-6B6E-C2DC-A74D644D74A8}"/>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6DF59A95-6CAA-34C0-90BC-263A4E4DD126}"/>
              </a:ext>
            </a:extLst>
          </p:cNvPr>
          <p:cNvSpPr>
            <a:spLocks noGrp="1"/>
          </p:cNvSpPr>
          <p:nvPr>
            <p:ph idx="1"/>
          </p:nvPr>
        </p:nvSpPr>
        <p:spPr>
          <a:xfrm>
            <a:off x="1484310" y="1436915"/>
            <a:ext cx="10018713" cy="5421086"/>
          </a:xfrm>
        </p:spPr>
        <p:txBody>
          <a:bodyPr>
            <a:normAutofit/>
          </a:bodyPr>
          <a:lstStyle/>
          <a:p>
            <a:pPr lvl="0"/>
            <a:r>
              <a:rPr lang="en-US" b="1" dirty="0">
                <a:latin typeface="Times New Roman" panose="02020603050405020304" pitchFamily="18" charset="0"/>
                <a:cs typeface="Times New Roman" panose="02020603050405020304" pitchFamily="18" charset="0"/>
              </a:rPr>
              <a:t>Emergency Services: </a:t>
            </a:r>
            <a:r>
              <a:rPr lang="en-US" dirty="0">
                <a:latin typeface="Times New Roman" panose="02020603050405020304" pitchFamily="18" charset="0"/>
                <a:cs typeface="Times New Roman" panose="02020603050405020304" pitchFamily="18" charset="0"/>
              </a:rPr>
              <a:t>When someone calls for help, GPS can tell rescuers exactly where to go. This is really important for accidents in remote areas or at sea. It helps ambulances, fire trucks, and rescue teams reach people faster.</a:t>
            </a:r>
          </a:p>
          <a:p>
            <a:pPr lvl="0"/>
            <a:r>
              <a:rPr lang="en-US" b="1" dirty="0">
                <a:latin typeface="Times New Roman" panose="02020603050405020304" pitchFamily="18" charset="0"/>
                <a:cs typeface="Times New Roman" panose="02020603050405020304" pitchFamily="18" charset="0"/>
              </a:rPr>
              <a:t>Time Keeping: </a:t>
            </a:r>
            <a:r>
              <a:rPr lang="en-US" dirty="0">
                <a:latin typeface="Times New Roman" panose="02020603050405020304" pitchFamily="18" charset="0"/>
                <a:cs typeface="Times New Roman" panose="02020603050405020304" pitchFamily="18" charset="0"/>
              </a:rPr>
              <a:t>GPS satellites have very accurate clocks. They send out time signals that computers and networks use to stay in sync. This is important for things like cell phone networks, power grids, and financial systems that need precise timing.</a:t>
            </a:r>
          </a:p>
          <a:p>
            <a:endParaRPr lang="en-US" dirty="0"/>
          </a:p>
        </p:txBody>
      </p:sp>
    </p:spTree>
    <p:extLst>
      <p:ext uri="{BB962C8B-B14F-4D97-AF65-F5344CB8AC3E}">
        <p14:creationId xmlns:p14="http://schemas.microsoft.com/office/powerpoint/2010/main" val="38356513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8404E-64A5-E3E8-9956-7F0729F6F61C}"/>
              </a:ext>
            </a:extLst>
          </p:cNvPr>
          <p:cNvSpPr>
            <a:spLocks noGrp="1"/>
          </p:cNvSpPr>
          <p:nvPr>
            <p:ph type="title"/>
          </p:nvPr>
        </p:nvSpPr>
        <p:spPr>
          <a:xfrm>
            <a:off x="1484311" y="685800"/>
            <a:ext cx="10018713" cy="1349829"/>
          </a:xfrm>
        </p:spPr>
        <p:txBody>
          <a:bodyPr/>
          <a:lstStyle/>
          <a:p>
            <a:r>
              <a:rPr lang="en-US" b="1" dirty="0">
                <a:latin typeface="Times New Roman" panose="02020603050405020304" pitchFamily="18" charset="0"/>
                <a:cs typeface="Times New Roman" panose="02020603050405020304" pitchFamily="18" charset="0"/>
              </a:rPr>
              <a:t>Applications of GPS </a:t>
            </a:r>
          </a:p>
        </p:txBody>
      </p:sp>
      <p:sp>
        <p:nvSpPr>
          <p:cNvPr id="3" name="Content Placeholder 2">
            <a:extLst>
              <a:ext uri="{FF2B5EF4-FFF2-40B4-BE49-F238E27FC236}">
                <a16:creationId xmlns:a16="http://schemas.microsoft.com/office/drawing/2014/main" id="{0AD0473A-E24E-30C4-D0E8-388E45E21EC5}"/>
              </a:ext>
            </a:extLst>
          </p:cNvPr>
          <p:cNvSpPr>
            <a:spLocks noGrp="1"/>
          </p:cNvSpPr>
          <p:nvPr>
            <p:ph idx="1"/>
          </p:nvPr>
        </p:nvSpPr>
        <p:spPr>
          <a:xfrm>
            <a:off x="1484310" y="1785257"/>
            <a:ext cx="10707690" cy="5246914"/>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Industrial and Business Applications</a:t>
            </a:r>
          </a:p>
          <a:p>
            <a:r>
              <a:rPr lang="en-US" b="1" dirty="0">
                <a:latin typeface="Times New Roman" panose="02020603050405020304" pitchFamily="18" charset="0"/>
                <a:cs typeface="Times New Roman" panose="02020603050405020304" pitchFamily="18" charset="0"/>
              </a:rPr>
              <a:t>Precision Agriculture:</a:t>
            </a:r>
            <a:r>
              <a:rPr lang="en-US" dirty="0">
                <a:latin typeface="Times New Roman" panose="02020603050405020304" pitchFamily="18" charset="0"/>
                <a:cs typeface="Times New Roman" panose="02020603050405020304" pitchFamily="18" charset="0"/>
              </a:rPr>
              <a:t> GPS guides tractors, irrigation systems, and fertilizer application to increase productivity and reduce waste </a:t>
            </a:r>
          </a:p>
          <a:p>
            <a:r>
              <a:rPr lang="en-US" b="1" dirty="0">
                <a:latin typeface="Times New Roman" panose="02020603050405020304" pitchFamily="18" charset="0"/>
                <a:cs typeface="Times New Roman" panose="02020603050405020304" pitchFamily="18" charset="0"/>
              </a:rPr>
              <a:t>Fleet Management:</a:t>
            </a:r>
            <a:r>
              <a:rPr lang="en-US" dirty="0">
                <a:latin typeface="Times New Roman" panose="02020603050405020304" pitchFamily="18" charset="0"/>
                <a:cs typeface="Times New Roman" panose="02020603050405020304" pitchFamily="18" charset="0"/>
              </a:rPr>
              <a:t> Companies track trucks, buses, and delivery vehicles in real time for better route planning and fuel savings </a:t>
            </a:r>
          </a:p>
          <a:p>
            <a:r>
              <a:rPr lang="en-US" b="1" dirty="0">
                <a:latin typeface="Times New Roman" panose="02020603050405020304" pitchFamily="18" charset="0"/>
                <a:cs typeface="Times New Roman" panose="02020603050405020304" pitchFamily="18" charset="0"/>
              </a:rPr>
              <a:t>Construction and Surveying:</a:t>
            </a:r>
            <a:r>
              <a:rPr lang="en-US" dirty="0">
                <a:latin typeface="Times New Roman" panose="02020603050405020304" pitchFamily="18" charset="0"/>
                <a:cs typeface="Times New Roman" panose="02020603050405020304" pitchFamily="18" charset="0"/>
              </a:rPr>
              <a:t> Engineers use GPS for land measurement, machine control, and accurate building alignment </a:t>
            </a:r>
          </a:p>
          <a:p>
            <a:r>
              <a:rPr lang="en-US" b="1" dirty="0">
                <a:latin typeface="Times New Roman" panose="02020603050405020304" pitchFamily="18" charset="0"/>
                <a:cs typeface="Times New Roman" panose="02020603050405020304" pitchFamily="18" charset="0"/>
              </a:rPr>
              <a:t>Mining Operations:</a:t>
            </a:r>
            <a:r>
              <a:rPr lang="en-US" dirty="0">
                <a:latin typeface="Times New Roman" panose="02020603050405020304" pitchFamily="18" charset="0"/>
                <a:cs typeface="Times New Roman" panose="02020603050405020304" pitchFamily="18" charset="0"/>
              </a:rPr>
              <a:t> GPS helps monitor heavy equipment, improve excavation accuracy, and enhance worker safety </a:t>
            </a:r>
          </a:p>
          <a:p>
            <a:r>
              <a:rPr lang="en-US" b="1" dirty="0">
                <a:latin typeface="Times New Roman" panose="02020603050405020304" pitchFamily="18" charset="0"/>
                <a:cs typeface="Times New Roman" panose="02020603050405020304" pitchFamily="18" charset="0"/>
              </a:rPr>
              <a:t>Aviation and Shipping:</a:t>
            </a:r>
            <a:r>
              <a:rPr lang="en-US" dirty="0">
                <a:latin typeface="Times New Roman" panose="02020603050405020304" pitchFamily="18" charset="0"/>
                <a:cs typeface="Times New Roman" panose="02020603050405020304" pitchFamily="18" charset="0"/>
              </a:rPr>
              <a:t> Aircraft and ships use GPS for navigation, route optimization, and collision prevention</a:t>
            </a:r>
          </a:p>
          <a:p>
            <a:endParaRPr lang="en-US" dirty="0"/>
          </a:p>
        </p:txBody>
      </p:sp>
    </p:spTree>
    <p:extLst>
      <p:ext uri="{BB962C8B-B14F-4D97-AF65-F5344CB8AC3E}">
        <p14:creationId xmlns:p14="http://schemas.microsoft.com/office/powerpoint/2010/main" val="32667751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E4628-00D2-2B6C-50B0-2A9B91AF61FC}"/>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9C510D92-3544-B2B2-61F5-83A301A7F3E1}"/>
              </a:ext>
            </a:extLst>
          </p:cNvPr>
          <p:cNvSpPr>
            <a:spLocks noGrp="1"/>
          </p:cNvSpPr>
          <p:nvPr>
            <p:ph idx="1"/>
          </p:nvPr>
        </p:nvSpPr>
        <p:spPr>
          <a:xfrm>
            <a:off x="1484310" y="2100943"/>
            <a:ext cx="10587947" cy="4757057"/>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Public Services and Safety</a:t>
            </a:r>
          </a:p>
          <a:p>
            <a:r>
              <a:rPr lang="en-US" b="1" dirty="0">
                <a:latin typeface="Times New Roman" panose="02020603050405020304" pitchFamily="18" charset="0"/>
                <a:cs typeface="Times New Roman" panose="02020603050405020304" pitchFamily="18" charset="0"/>
              </a:rPr>
              <a:t>Emergency Response:</a:t>
            </a:r>
            <a:r>
              <a:rPr lang="en-US" dirty="0">
                <a:latin typeface="Times New Roman" panose="02020603050405020304" pitchFamily="18" charset="0"/>
                <a:cs typeface="Times New Roman" panose="02020603050405020304" pitchFamily="18" charset="0"/>
              </a:rPr>
              <a:t> Ambulances, police, and fire services use GPS to reach accident locations faster </a:t>
            </a:r>
          </a:p>
          <a:p>
            <a:r>
              <a:rPr lang="en-US" b="1" dirty="0">
                <a:latin typeface="Times New Roman" panose="02020603050405020304" pitchFamily="18" charset="0"/>
                <a:cs typeface="Times New Roman" panose="02020603050405020304" pitchFamily="18" charset="0"/>
              </a:rPr>
              <a:t>Disaster Management:</a:t>
            </a:r>
            <a:r>
              <a:rPr lang="en-US" dirty="0">
                <a:latin typeface="Times New Roman" panose="02020603050405020304" pitchFamily="18" charset="0"/>
                <a:cs typeface="Times New Roman" panose="02020603050405020304" pitchFamily="18" charset="0"/>
              </a:rPr>
              <a:t> GPS helps track floods, earthquakes, storms, and supports rescue operations </a:t>
            </a:r>
          </a:p>
          <a:p>
            <a:r>
              <a:rPr lang="en-US" b="1" dirty="0">
                <a:latin typeface="Times New Roman" panose="02020603050405020304" pitchFamily="18" charset="0"/>
                <a:cs typeface="Times New Roman" panose="02020603050405020304" pitchFamily="18" charset="0"/>
              </a:rPr>
              <a:t>Military and Defense:</a:t>
            </a:r>
            <a:r>
              <a:rPr lang="en-US" dirty="0">
                <a:latin typeface="Times New Roman" panose="02020603050405020304" pitchFamily="18" charset="0"/>
                <a:cs typeface="Times New Roman" panose="02020603050405020304" pitchFamily="18" charset="0"/>
              </a:rPr>
              <a:t> Used for navigation, surveillance, missile guidance, and secure operations </a:t>
            </a:r>
          </a:p>
          <a:p>
            <a:r>
              <a:rPr lang="en-US" b="1" dirty="0">
                <a:latin typeface="Times New Roman" panose="02020603050405020304" pitchFamily="18" charset="0"/>
                <a:cs typeface="Times New Roman" panose="02020603050405020304" pitchFamily="18" charset="0"/>
              </a:rPr>
              <a:t>Smart Cities:</a:t>
            </a:r>
            <a:r>
              <a:rPr lang="en-US" dirty="0">
                <a:latin typeface="Times New Roman" panose="02020603050405020304" pitchFamily="18" charset="0"/>
                <a:cs typeface="Times New Roman" panose="02020603050405020304" pitchFamily="18" charset="0"/>
              </a:rPr>
              <a:t> GPS supports traffic control, public transport tracking, and urban planning</a:t>
            </a:r>
          </a:p>
          <a:p>
            <a:endParaRPr lang="en-US" dirty="0"/>
          </a:p>
        </p:txBody>
      </p:sp>
    </p:spTree>
    <p:extLst>
      <p:ext uri="{BB962C8B-B14F-4D97-AF65-F5344CB8AC3E}">
        <p14:creationId xmlns:p14="http://schemas.microsoft.com/office/powerpoint/2010/main" val="14038136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756FF-D1EA-9CCA-8BB7-49E614B97CE7}"/>
              </a:ext>
            </a:extLst>
          </p:cNvPr>
          <p:cNvSpPr>
            <a:spLocks noGrp="1"/>
          </p:cNvSpPr>
          <p:nvPr>
            <p:ph type="title"/>
          </p:nvPr>
        </p:nvSpPr>
        <p:spPr>
          <a:xfrm>
            <a:off x="1484311" y="272144"/>
            <a:ext cx="10018713" cy="1741714"/>
          </a:xfrm>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2506795E-35AE-58B3-3067-EBC3D2F744D6}"/>
              </a:ext>
            </a:extLst>
          </p:cNvPr>
          <p:cNvSpPr>
            <a:spLocks noGrp="1"/>
          </p:cNvSpPr>
          <p:nvPr>
            <p:ph idx="1"/>
          </p:nvPr>
        </p:nvSpPr>
        <p:spPr>
          <a:xfrm>
            <a:off x="1484310" y="2013857"/>
            <a:ext cx="10555290" cy="495300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Daily Life Applications</a:t>
            </a:r>
          </a:p>
          <a:p>
            <a:r>
              <a:rPr lang="en-US" b="1" dirty="0">
                <a:latin typeface="Times New Roman" panose="02020603050405020304" pitchFamily="18" charset="0"/>
                <a:cs typeface="Times New Roman" panose="02020603050405020304" pitchFamily="18" charset="0"/>
              </a:rPr>
              <a:t>Mobile Navigation:</a:t>
            </a:r>
            <a:r>
              <a:rPr lang="en-US" dirty="0">
                <a:latin typeface="Times New Roman" panose="02020603050405020304" pitchFamily="18" charset="0"/>
                <a:cs typeface="Times New Roman" panose="02020603050405020304" pitchFamily="18" charset="0"/>
              </a:rPr>
              <a:t> Apps like Google Maps help people find directions and avoid traffic </a:t>
            </a:r>
          </a:p>
          <a:p>
            <a:r>
              <a:rPr lang="en-US" b="1" dirty="0">
                <a:latin typeface="Times New Roman" panose="02020603050405020304" pitchFamily="18" charset="0"/>
                <a:cs typeface="Times New Roman" panose="02020603050405020304" pitchFamily="18" charset="0"/>
              </a:rPr>
              <a:t>Ride-Hailing Services:</a:t>
            </a:r>
            <a:r>
              <a:rPr lang="en-US" dirty="0">
                <a:latin typeface="Times New Roman" panose="02020603050405020304" pitchFamily="18" charset="0"/>
                <a:cs typeface="Times New Roman" panose="02020603050405020304" pitchFamily="18" charset="0"/>
              </a:rPr>
              <a:t> Apps like Uber and Bolt depend on GPS for driver-passenger location matching </a:t>
            </a:r>
          </a:p>
          <a:p>
            <a:r>
              <a:rPr lang="en-US" b="1" dirty="0">
                <a:latin typeface="Times New Roman" panose="02020603050405020304" pitchFamily="18" charset="0"/>
                <a:cs typeface="Times New Roman" panose="02020603050405020304" pitchFamily="18" charset="0"/>
              </a:rPr>
              <a:t>Fitness and Health:</a:t>
            </a:r>
            <a:r>
              <a:rPr lang="en-US" dirty="0">
                <a:latin typeface="Times New Roman" panose="02020603050405020304" pitchFamily="18" charset="0"/>
                <a:cs typeface="Times New Roman" panose="02020603050405020304" pitchFamily="18" charset="0"/>
              </a:rPr>
              <a:t> Smartwatches track walking, running, cycling, and outdoor activities </a:t>
            </a:r>
          </a:p>
          <a:p>
            <a:r>
              <a:rPr lang="en-US" b="1" dirty="0">
                <a:latin typeface="Times New Roman" panose="02020603050405020304" pitchFamily="18" charset="0"/>
                <a:cs typeface="Times New Roman" panose="02020603050405020304" pitchFamily="18" charset="0"/>
              </a:rPr>
              <a:t>Personal Security:</a:t>
            </a:r>
            <a:r>
              <a:rPr lang="en-US" dirty="0">
                <a:latin typeface="Times New Roman" panose="02020603050405020304" pitchFamily="18" charset="0"/>
                <a:cs typeface="Times New Roman" panose="02020603050405020304" pitchFamily="18" charset="0"/>
              </a:rPr>
              <a:t> Family tracking apps improve safety and location sharing </a:t>
            </a:r>
          </a:p>
          <a:p>
            <a:r>
              <a:rPr lang="en-US" b="1" dirty="0">
                <a:latin typeface="Times New Roman" panose="02020603050405020304" pitchFamily="18" charset="0"/>
                <a:cs typeface="Times New Roman" panose="02020603050405020304" pitchFamily="18" charset="0"/>
              </a:rPr>
              <a:t>Tourism and Recreation:</a:t>
            </a:r>
            <a:r>
              <a:rPr lang="en-US" dirty="0">
                <a:latin typeface="Times New Roman" panose="02020603050405020304" pitchFamily="18" charset="0"/>
                <a:cs typeface="Times New Roman" panose="02020603050405020304" pitchFamily="18" charset="0"/>
              </a:rPr>
              <a:t> GPS supports hiking, camping, geocaching, and travel exploration </a:t>
            </a:r>
          </a:p>
          <a:p>
            <a:endParaRPr lang="en-US" dirty="0"/>
          </a:p>
        </p:txBody>
      </p:sp>
    </p:spTree>
    <p:extLst>
      <p:ext uri="{BB962C8B-B14F-4D97-AF65-F5344CB8AC3E}">
        <p14:creationId xmlns:p14="http://schemas.microsoft.com/office/powerpoint/2010/main" val="21374530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9ED69-4AF8-60D0-1925-43FDAEBA2DF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Advantages and Disadvantages of GPS</a:t>
            </a:r>
            <a:br>
              <a:rPr lang="en-US" dirty="0"/>
            </a:br>
            <a:endParaRPr lang="en-US" dirty="0"/>
          </a:p>
        </p:txBody>
      </p:sp>
      <p:sp>
        <p:nvSpPr>
          <p:cNvPr id="3" name="Content Placeholder 2">
            <a:extLst>
              <a:ext uri="{FF2B5EF4-FFF2-40B4-BE49-F238E27FC236}">
                <a16:creationId xmlns:a16="http://schemas.microsoft.com/office/drawing/2014/main" id="{B80576E3-A7EB-75F3-AF56-6B2D6EF82BAA}"/>
              </a:ext>
            </a:extLst>
          </p:cNvPr>
          <p:cNvSpPr>
            <a:spLocks noGrp="1"/>
          </p:cNvSpPr>
          <p:nvPr>
            <p:ph idx="1"/>
          </p:nvPr>
        </p:nvSpPr>
        <p:spPr>
          <a:xfrm>
            <a:off x="1484310" y="1382487"/>
            <a:ext cx="10435547" cy="5725884"/>
          </a:xfrm>
        </p:spPr>
        <p:txBody>
          <a:bodyPr>
            <a:normAutofit/>
          </a:bodyPr>
          <a:lstStyle/>
          <a:p>
            <a:pPr lvl="0"/>
            <a:r>
              <a:rPr lang="en-US" dirty="0">
                <a:latin typeface="Times New Roman" panose="02020603050405020304" pitchFamily="18" charset="0"/>
                <a:cs typeface="Times New Roman" panose="02020603050405020304" pitchFamily="18" charset="0"/>
              </a:rPr>
              <a:t>The GPS function can be used in any country, whether in a metro city and even in the desert. It can be used for navigation virtually to any point in the world.</a:t>
            </a:r>
          </a:p>
          <a:p>
            <a:pPr lvl="0"/>
            <a:r>
              <a:rPr lang="en-US" dirty="0">
                <a:latin typeface="Times New Roman" panose="02020603050405020304" pitchFamily="18" charset="0"/>
                <a:cs typeface="Times New Roman" panose="02020603050405020304" pitchFamily="18" charset="0"/>
              </a:rPr>
              <a:t>GPS is simple to use. Most smartphones have the GPS built-in so you don't need extra devices. Just open the map app and you are ready to go.</a:t>
            </a:r>
          </a:p>
          <a:p>
            <a:pPr lvl="0"/>
            <a:r>
              <a:rPr lang="en-US" dirty="0">
                <a:latin typeface="Times New Roman" panose="02020603050405020304" pitchFamily="18" charset="0"/>
                <a:cs typeface="Times New Roman" panose="02020603050405020304" pitchFamily="18" charset="0"/>
              </a:rPr>
              <a:t>GPS can be off by the 10 to 15 meters. This means it might not show you the exact spot which can be the problem if you need to find something small and specific.</a:t>
            </a:r>
          </a:p>
          <a:p>
            <a:pPr lvl="0"/>
            <a:r>
              <a:rPr lang="en-US" dirty="0">
                <a:latin typeface="Times New Roman" panose="02020603050405020304" pitchFamily="18" charset="0"/>
                <a:cs typeface="Times New Roman" panose="02020603050405020304" pitchFamily="18" charset="0"/>
              </a:rPr>
              <a:t>GPS signals can be blocked by the tall buildings, mountains and even thick trees. This means it might not work well in the cities with the skyscrapers or in the dense forests.</a:t>
            </a:r>
          </a:p>
          <a:p>
            <a:endParaRPr lang="en-US" dirty="0"/>
          </a:p>
        </p:txBody>
      </p:sp>
    </p:spTree>
    <p:extLst>
      <p:ext uri="{BB962C8B-B14F-4D97-AF65-F5344CB8AC3E}">
        <p14:creationId xmlns:p14="http://schemas.microsoft.com/office/powerpoint/2010/main" val="998511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02F1-D452-4AA1-1702-D475E949F34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GPS Can Do for GIS?</a:t>
            </a:r>
            <a:br>
              <a:rPr lang="en-US" dirty="0"/>
            </a:br>
            <a:endParaRPr lang="en-US" dirty="0"/>
          </a:p>
        </p:txBody>
      </p:sp>
      <p:sp>
        <p:nvSpPr>
          <p:cNvPr id="3" name="Content Placeholder 2">
            <a:extLst>
              <a:ext uri="{FF2B5EF4-FFF2-40B4-BE49-F238E27FC236}">
                <a16:creationId xmlns:a16="http://schemas.microsoft.com/office/drawing/2014/main" id="{1BF19E06-166C-48A1-1CFE-16C2AAA7D8E0}"/>
              </a:ext>
            </a:extLst>
          </p:cNvPr>
          <p:cNvSpPr>
            <a:spLocks noGrp="1"/>
          </p:cNvSpPr>
          <p:nvPr>
            <p:ph idx="1"/>
          </p:nvPr>
        </p:nvSpPr>
        <p:spPr>
          <a:xfrm>
            <a:off x="1484310" y="1153886"/>
            <a:ext cx="10018713" cy="5442857"/>
          </a:xfrm>
        </p:spPr>
        <p:txBody>
          <a:bodyPr>
            <a:normAutofit/>
          </a:bodyPr>
          <a:lstStyle/>
          <a:p>
            <a:r>
              <a:rPr lang="en-US" dirty="0">
                <a:latin typeface="Times New Roman" panose="02020603050405020304" pitchFamily="18" charset="0"/>
                <a:cs typeface="Times New Roman" panose="02020603050405020304" pitchFamily="18" charset="0"/>
              </a:rPr>
              <a:t>GPS helps </a:t>
            </a:r>
            <a:r>
              <a:rPr lang="en-US" u="sng" dirty="0">
                <a:latin typeface="Times New Roman" panose="02020603050405020304" pitchFamily="18" charset="0"/>
                <a:cs typeface="Times New Roman" panose="02020603050405020304" pitchFamily="18" charset="0"/>
                <a:hlinkClick r:id="rId2"/>
              </a:rPr>
              <a:t>GIS</a:t>
            </a:r>
            <a:r>
              <a:rPr lang="en-US" dirty="0">
                <a:latin typeface="Times New Roman" panose="02020603050405020304" pitchFamily="18" charset="0"/>
                <a:cs typeface="Times New Roman" panose="02020603050405020304" pitchFamily="18" charset="0"/>
              </a:rPr>
              <a:t> by giving it exact location information. GPS is like a very accurate map that tells you where things are on Earth. GIS is a system that uses computers to make maps and analyze location data. When GPS and GIS work together, they can create better, more accurate maps. GPS tells GIS exactly where things are, like buildings, roads, or trees. This helps GIS make maps that show the real world very closely.</a:t>
            </a:r>
          </a:p>
          <a:p>
            <a:r>
              <a:rPr lang="en-US" dirty="0">
                <a:latin typeface="Times New Roman" panose="02020603050405020304" pitchFamily="18" charset="0"/>
                <a:cs typeface="Times New Roman" panose="02020603050405020304" pitchFamily="18" charset="0"/>
              </a:rPr>
              <a:t>With GPS data, GIS can also track moving things. This team-up of GPS and GIS helps people make better decisions about land use, city planning, and taking care of nature.</a:t>
            </a:r>
          </a:p>
          <a:p>
            <a:endParaRPr lang="en-US" dirty="0"/>
          </a:p>
        </p:txBody>
      </p:sp>
    </p:spTree>
    <p:extLst>
      <p:ext uri="{BB962C8B-B14F-4D97-AF65-F5344CB8AC3E}">
        <p14:creationId xmlns:p14="http://schemas.microsoft.com/office/powerpoint/2010/main" val="40794692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B8B78-2C82-9EFF-FACD-D77FF0C6CCE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Technical challenges face by GPS: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29243C0-2B42-9C48-D8B7-76A66E1CCE6C}"/>
              </a:ext>
            </a:extLst>
          </p:cNvPr>
          <p:cNvSpPr>
            <a:spLocks noGrp="1"/>
          </p:cNvSpPr>
          <p:nvPr>
            <p:ph idx="1"/>
          </p:nvPr>
        </p:nvSpPr>
        <p:spPr>
          <a:xfrm>
            <a:off x="1484310" y="1034143"/>
            <a:ext cx="10018713" cy="5682343"/>
          </a:xfrm>
        </p:spPr>
        <p:txBody>
          <a:bodyPr>
            <a:normAutofit/>
          </a:bodyPr>
          <a:lstStyle/>
          <a:p>
            <a:r>
              <a:rPr lang="en-US" b="1" dirty="0">
                <a:latin typeface="Times New Roman" panose="02020603050405020304" pitchFamily="18" charset="0"/>
                <a:cs typeface="Times New Roman" panose="02020603050405020304" pitchFamily="18" charset="0"/>
              </a:rPr>
              <a:t>Time synchronization:</a:t>
            </a:r>
            <a:endParaRPr lang="en-US" dirty="0">
              <a:latin typeface="Times New Roman" panose="02020603050405020304" pitchFamily="18" charset="0"/>
              <a:cs typeface="Times New Roman" panose="02020603050405020304" pitchFamily="18" charset="0"/>
            </a:endParaRPr>
          </a:p>
          <a:p>
            <a:pPr marL="0" lvl="0" indent="0">
              <a:buNone/>
            </a:pPr>
            <a:r>
              <a:rPr lang="en-US" dirty="0">
                <a:latin typeface="Times New Roman" panose="02020603050405020304" pitchFamily="18" charset="0"/>
                <a:cs typeface="Times New Roman" panose="02020603050405020304" pitchFamily="18" charset="0"/>
              </a:rPr>
              <a:t>Each of the GPS satellites are equipped with an atomic clock to keep the time updated and accurate. In order to update and provide precise timing on the receiver, the receiver uses the fourth GPS satellite to keeps it's timing accurate. With the timing with the receiver and GPS satellites maintained by atomic clocks, the exact time difference can be calculated by the receiver. The GPS satellites are constantly managed from ground-based stations to resolve time synchronization.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84731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1A10-14D8-6E97-289D-2F87A64B8C20}"/>
              </a:ext>
            </a:extLst>
          </p:cNvPr>
          <p:cNvSpPr>
            <a:spLocks noGrp="1"/>
          </p:cNvSpPr>
          <p:nvPr>
            <p:ph type="title"/>
          </p:nvPr>
        </p:nvSpPr>
        <p:spPr/>
        <p:txBody>
          <a:bodyPr/>
          <a:lstStyle/>
          <a:p>
            <a:r>
              <a:rPr lang="en-US" b="1" dirty="0" err="1">
                <a:latin typeface="Times New Roman" panose="02020603050405020304" pitchFamily="18" charset="0"/>
                <a:cs typeface="Times New Roman" panose="02020603050405020304" pitchFamily="18" charset="0"/>
              </a:rPr>
              <a:t>Cont</a:t>
            </a:r>
            <a:r>
              <a:rPr lang="en-US" b="1"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15FB4EF7-8974-E1A5-A9FC-63BFC0226C25}"/>
              </a:ext>
            </a:extLst>
          </p:cNvPr>
          <p:cNvSpPr>
            <a:spLocks noGrp="1"/>
          </p:cNvSpPr>
          <p:nvPr>
            <p:ph idx="1"/>
          </p:nvPr>
        </p:nvSpPr>
        <p:spPr>
          <a:xfrm>
            <a:off x="1484310" y="1850571"/>
            <a:ext cx="10018713" cy="4517572"/>
          </a:xfrm>
        </p:spPr>
        <p:txBody>
          <a:bodyPr>
            <a:normAutofit/>
          </a:bodyPr>
          <a:lstStyle/>
          <a:p>
            <a:r>
              <a:rPr lang="en-US" b="1" dirty="0">
                <a:latin typeface="Times New Roman" panose="02020603050405020304" pitchFamily="18" charset="0"/>
                <a:cs typeface="Times New Roman" panose="02020603050405020304" pitchFamily="18" charset="0"/>
              </a:rPr>
              <a:t>Significance of ultra precision of time synchronization:</a:t>
            </a:r>
            <a:endParaRPr lang="en-US" dirty="0">
              <a:latin typeface="Times New Roman" panose="02020603050405020304" pitchFamily="18" charset="0"/>
              <a:cs typeface="Times New Roman" panose="02020603050405020304" pitchFamily="18" charset="0"/>
            </a:endParaRPr>
          </a:p>
          <a:p>
            <a:pPr marL="0" lvl="0" indent="0">
              <a:buNone/>
            </a:pPr>
            <a:r>
              <a:rPr lang="en-US" dirty="0">
                <a:latin typeface="Times New Roman" panose="02020603050405020304" pitchFamily="18" charset="0"/>
                <a:cs typeface="Times New Roman" panose="02020603050405020304" pitchFamily="18" charset="0"/>
              </a:rPr>
              <a:t>Electromagnetic radiation propagate with the speed of light. The accuracy in position is directly proportional to the time measurement, as speed * time = distance, therefore, even a slight deviation in time calculation can create huge difference in distance due to large speed of light.</a:t>
            </a:r>
          </a:p>
          <a:p>
            <a:r>
              <a:rPr lang="en-US" b="1" dirty="0">
                <a:latin typeface="Times New Roman" panose="02020603050405020304" pitchFamily="18" charset="0"/>
                <a:cs typeface="Times New Roman" panose="02020603050405020304" pitchFamily="18" charset="0"/>
              </a:rPr>
              <a:t>Real time update of exact location of the satellite.</a:t>
            </a:r>
            <a:endParaRPr lang="en-US" dirty="0">
              <a:latin typeface="Times New Roman" panose="02020603050405020304" pitchFamily="18" charset="0"/>
              <a:cs typeface="Times New Roman" panose="02020603050405020304" pitchFamily="18" charset="0"/>
            </a:endParaRPr>
          </a:p>
          <a:p>
            <a:pPr marL="0" lvl="0" indent="0">
              <a:buNone/>
            </a:pPr>
            <a:r>
              <a:rPr lang="en-US" dirty="0">
                <a:latin typeface="Times New Roman" panose="02020603050405020304" pitchFamily="18" charset="0"/>
                <a:cs typeface="Times New Roman" panose="02020603050405020304" pitchFamily="18" charset="0"/>
              </a:rPr>
              <a:t>This is done by monitoring the satellites from a number of widely distributed ground based system.</a:t>
            </a:r>
          </a:p>
          <a:p>
            <a:endParaRPr lang="en-US" dirty="0"/>
          </a:p>
        </p:txBody>
      </p:sp>
    </p:spTree>
    <p:extLst>
      <p:ext uri="{BB962C8B-B14F-4D97-AF65-F5344CB8AC3E}">
        <p14:creationId xmlns:p14="http://schemas.microsoft.com/office/powerpoint/2010/main" val="33603411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D1603-DFC5-2EF7-EF7F-B32657549B66}"/>
              </a:ext>
            </a:extLst>
          </p:cNvPr>
          <p:cNvSpPr>
            <a:spLocks noGrp="1"/>
          </p:cNvSpPr>
          <p:nvPr>
            <p:ph type="title"/>
          </p:nvPr>
        </p:nvSpPr>
        <p:spPr>
          <a:xfrm>
            <a:off x="1484311" y="304801"/>
            <a:ext cx="10018713" cy="1143000"/>
          </a:xfrm>
        </p:spPr>
        <p:txBody>
          <a:bodyPr>
            <a:normAutofit/>
          </a:bodyPr>
          <a:lstStyle/>
          <a:p>
            <a:r>
              <a:rPr lang="en-US" b="1" dirty="0">
                <a:latin typeface="Times New Roman" panose="02020603050405020304" pitchFamily="18" charset="0"/>
                <a:cs typeface="Times New Roman" panose="02020603050405020304" pitchFamily="18" charset="0"/>
              </a:rPr>
              <a:t>Important Facts About GPS</a:t>
            </a:r>
          </a:p>
        </p:txBody>
      </p:sp>
      <p:sp>
        <p:nvSpPr>
          <p:cNvPr id="4" name="Rectangle 1">
            <a:extLst>
              <a:ext uri="{FF2B5EF4-FFF2-40B4-BE49-F238E27FC236}">
                <a16:creationId xmlns:a16="http://schemas.microsoft.com/office/drawing/2014/main" id="{A81BFCF7-6F34-6260-5C02-681BCFA82DC8}"/>
              </a:ext>
            </a:extLst>
          </p:cNvPr>
          <p:cNvSpPr>
            <a:spLocks noGrp="1" noChangeArrowheads="1"/>
          </p:cNvSpPr>
          <p:nvPr>
            <p:ph idx="1"/>
          </p:nvPr>
        </p:nvSpPr>
        <p:spPr bwMode="auto">
          <a:xfrm>
            <a:off x="1614939" y="1259175"/>
            <a:ext cx="10239604"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GPS is owned and operated by the United States Space Force.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uses a network of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least 24 satellites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(usually around 30+ active satellites).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Satellites orbit about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20,200 km above Earth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GPS receiver needs signals from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least 4 satellites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determine an accurate position.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GPS works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24/7 in all weather conditions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anywhere on Earth.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free to use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civilians worldwide.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 GPS: about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3–10 meters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advanced methods (like DGPS): can be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centimeters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767602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DCC67-CE27-29A9-4D93-912DBA0300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603D69-BC4F-200F-E163-A3EBACA4C6D3}"/>
              </a:ext>
            </a:extLst>
          </p:cNvPr>
          <p:cNvSpPr>
            <a:spLocks noGrp="1"/>
          </p:cNvSpPr>
          <p:nvPr>
            <p:ph idx="1"/>
          </p:nvPr>
        </p:nvSpPr>
        <p:spPr>
          <a:xfrm>
            <a:off x="1484310" y="990601"/>
            <a:ext cx="10018713" cy="5334000"/>
          </a:xfrm>
        </p:spPr>
        <p:txBody>
          <a:bodyPr>
            <a:normAutofit/>
          </a:bodyPr>
          <a:lstStyle/>
          <a:p>
            <a:r>
              <a:rPr lang="en-US" sz="8800"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7713406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EA0B4-93F9-F038-E4E6-27ECB156D8B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GROUP MEMBERS</a:t>
            </a:r>
          </a:p>
        </p:txBody>
      </p:sp>
      <p:graphicFrame>
        <p:nvGraphicFramePr>
          <p:cNvPr id="6" name="Content Placeholder 5">
            <a:extLst>
              <a:ext uri="{FF2B5EF4-FFF2-40B4-BE49-F238E27FC236}">
                <a16:creationId xmlns:a16="http://schemas.microsoft.com/office/drawing/2014/main" id="{9FCDA5E1-EF8E-6816-38A3-E758D6C1ECB7}"/>
              </a:ext>
            </a:extLst>
          </p:cNvPr>
          <p:cNvGraphicFramePr>
            <a:graphicFrameLocks noGrp="1"/>
          </p:cNvGraphicFramePr>
          <p:nvPr>
            <p:ph idx="1"/>
            <p:extLst>
              <p:ext uri="{D42A27DB-BD31-4B8C-83A1-F6EECF244321}">
                <p14:modId xmlns:p14="http://schemas.microsoft.com/office/powerpoint/2010/main" val="1564636111"/>
              </p:ext>
            </p:extLst>
          </p:nvPr>
        </p:nvGraphicFramePr>
        <p:xfrm>
          <a:off x="1937657" y="2107460"/>
          <a:ext cx="9612086" cy="4401497"/>
        </p:xfrm>
        <a:graphic>
          <a:graphicData uri="http://schemas.openxmlformats.org/drawingml/2006/table">
            <a:tbl>
              <a:tblPr firstRow="1" firstCol="1" bandRow="1"/>
              <a:tblGrid>
                <a:gridCol w="838200">
                  <a:extLst>
                    <a:ext uri="{9D8B030D-6E8A-4147-A177-3AD203B41FA5}">
                      <a16:colId xmlns:a16="http://schemas.microsoft.com/office/drawing/2014/main" val="2698356421"/>
                    </a:ext>
                  </a:extLst>
                </a:gridCol>
                <a:gridCol w="4996543">
                  <a:extLst>
                    <a:ext uri="{9D8B030D-6E8A-4147-A177-3AD203B41FA5}">
                      <a16:colId xmlns:a16="http://schemas.microsoft.com/office/drawing/2014/main" val="1735139401"/>
                    </a:ext>
                  </a:extLst>
                </a:gridCol>
                <a:gridCol w="3777343">
                  <a:extLst>
                    <a:ext uri="{9D8B030D-6E8A-4147-A177-3AD203B41FA5}">
                      <a16:colId xmlns:a16="http://schemas.microsoft.com/office/drawing/2014/main" val="3966723691"/>
                    </a:ext>
                  </a:extLst>
                </a:gridCol>
              </a:tblGrid>
              <a:tr h="717371">
                <a:tc>
                  <a:txBody>
                    <a:bodyPr/>
                    <a:lstStyle/>
                    <a:p>
                      <a:pPr marL="0" marR="0">
                        <a:lnSpc>
                          <a:spcPct val="115000"/>
                        </a:lnSpc>
                        <a:spcAft>
                          <a:spcPts val="800"/>
                        </a:spcAft>
                        <a:buNone/>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S/N</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NAME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b="1" kern="100">
                          <a:effectLst/>
                          <a:latin typeface="Times New Roman" panose="02020603050405020304" pitchFamily="18" charset="0"/>
                          <a:ea typeface="Calibri" panose="020F0502020204030204" pitchFamily="34" charset="0"/>
                          <a:cs typeface="Times New Roman" panose="02020603050405020304" pitchFamily="18" charset="0"/>
                        </a:rPr>
                        <a:t>REGISTRATION NUMBER</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1432816"/>
                  </a:ext>
                </a:extLst>
              </a:tr>
              <a:tr h="717371">
                <a:tc>
                  <a:txBody>
                    <a:bodyPr/>
                    <a:lstStyle/>
                    <a:p>
                      <a:pPr marL="0" marR="0">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1</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JULIANA LOTSON ABRAHAM</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NIT/BCS/2023/515</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7972425"/>
                  </a:ext>
                </a:extLst>
              </a:tr>
              <a:tr h="717371">
                <a:tc>
                  <a:txBody>
                    <a:bodyPr/>
                    <a:lstStyle/>
                    <a:p>
                      <a:pPr marL="0" marR="0">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ERICK SALUS LUCAS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NIT/BCS/2023/579  </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9294942"/>
                  </a:ext>
                </a:extLst>
              </a:tr>
              <a:tr h="717371">
                <a:tc>
                  <a:txBody>
                    <a:bodyPr/>
                    <a:lstStyle/>
                    <a:p>
                      <a:pPr marL="0" marR="0">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3</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VLADMIR BONIFACE MASSAWE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NIT/BCS/2023/535  </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6134928"/>
                  </a:ext>
                </a:extLst>
              </a:tr>
              <a:tr h="717371">
                <a:tc>
                  <a:txBody>
                    <a:bodyPr/>
                    <a:lstStyle/>
                    <a:p>
                      <a:pPr marL="0" marR="0">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4</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GODFREY DEUSDEDITH DAMAS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NIT/BCS/2023/496</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5500071"/>
                  </a:ext>
                </a:extLst>
              </a:tr>
              <a:tr h="717371">
                <a:tc>
                  <a:txBody>
                    <a:bodyPr/>
                    <a:lstStyle/>
                    <a:p>
                      <a:pPr marL="0" marR="0">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5</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JACKSON AYUBU MWALONGO</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NIT/BCS/2023/492</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3467612"/>
                  </a:ext>
                </a:extLst>
              </a:tr>
            </a:tbl>
          </a:graphicData>
        </a:graphic>
      </p:graphicFrame>
    </p:spTree>
    <p:extLst>
      <p:ext uri="{BB962C8B-B14F-4D97-AF65-F5344CB8AC3E}">
        <p14:creationId xmlns:p14="http://schemas.microsoft.com/office/powerpoint/2010/main" val="33950657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513</TotalTime>
  <Words>2506</Words>
  <Application>Microsoft Office PowerPoint</Application>
  <PresentationFormat>Widescreen</PresentationFormat>
  <Paragraphs>177</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Corbel</vt:lpstr>
      <vt:lpstr>Times New Roman</vt:lpstr>
      <vt:lpstr>Wingdings</vt:lpstr>
      <vt:lpstr>Parallax</vt:lpstr>
      <vt:lpstr>GPS</vt:lpstr>
      <vt:lpstr>What is  GPS </vt:lpstr>
      <vt:lpstr>What is trilateration?</vt:lpstr>
      <vt:lpstr>PowerPoint Presentation</vt:lpstr>
      <vt:lpstr>History of GPS</vt:lpstr>
      <vt:lpstr>Cont.……</vt:lpstr>
      <vt:lpstr>Cont.……</vt:lpstr>
      <vt:lpstr>Where GPS Is Now (2026 Trends) </vt:lpstr>
      <vt:lpstr>Cont.……</vt:lpstr>
      <vt:lpstr>Cont……</vt:lpstr>
      <vt:lpstr>How GPS works? </vt:lpstr>
      <vt:lpstr>Cont……</vt:lpstr>
      <vt:lpstr>The Three GPS Segments </vt:lpstr>
      <vt:lpstr>Cont……</vt:lpstr>
      <vt:lpstr>GNSS</vt:lpstr>
      <vt:lpstr>Cont……</vt:lpstr>
      <vt:lpstr>Categories of GPS </vt:lpstr>
      <vt:lpstr>Cont……</vt:lpstr>
      <vt:lpstr>Differential GPS[DGPS] </vt:lpstr>
      <vt:lpstr>Cont……</vt:lpstr>
      <vt:lpstr>Key Uses of GPS </vt:lpstr>
      <vt:lpstr>Cont……</vt:lpstr>
      <vt:lpstr>Applications of GPS </vt:lpstr>
      <vt:lpstr>Cont……</vt:lpstr>
      <vt:lpstr>Cont……</vt:lpstr>
      <vt:lpstr>Advantages and Disadvantages of GPS </vt:lpstr>
      <vt:lpstr>What GPS Can Do for GIS? </vt:lpstr>
      <vt:lpstr>Technical challenges face by GPS: </vt:lpstr>
      <vt:lpstr>Cont……</vt:lpstr>
      <vt:lpstr>Important Facts About GPS</vt:lpstr>
      <vt:lpstr>PowerPoint Presentation</vt:lpstr>
      <vt:lpstr>GROUP MEMBERS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Lotson</dc:creator>
  <cp:lastModifiedBy>Julia Lotson</cp:lastModifiedBy>
  <cp:revision>7</cp:revision>
  <dcterms:created xsi:type="dcterms:W3CDTF">2026-04-17T19:26:03Z</dcterms:created>
  <dcterms:modified xsi:type="dcterms:W3CDTF">2026-04-20T12:35:57Z</dcterms:modified>
</cp:coreProperties>
</file>