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70" r:id="rId2"/>
    <p:sldId id="256" r:id="rId3"/>
    <p:sldId id="257" r:id="rId4"/>
    <p:sldId id="258" r:id="rId5"/>
    <p:sldId id="259" r:id="rId6"/>
    <p:sldId id="260" r:id="rId7"/>
    <p:sldId id="261" r:id="rId8"/>
    <p:sldId id="262" r:id="rId9"/>
    <p:sldId id="263" r:id="rId10"/>
    <p:sldId id="264" r:id="rId11"/>
    <p:sldId id="265" r:id="rId12"/>
    <p:sldId id="266" r:id="rId13"/>
    <p:sldId id="268" r:id="rId14"/>
    <p:sldId id="269"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88" d="100"/>
          <a:sy n="88"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7D238D-FF5C-4A2B-90F2-C0357169D0E7}" type="datetimeFigureOut">
              <a:rPr lang="en-US" smtClean="0"/>
              <a:t>5/20/2026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C7CCCC-2999-4C0E-97D6-FCE02A051041}" type="slidenum">
              <a:rPr lang="en-US" smtClean="0"/>
              <a:t>‹#›</a:t>
            </a:fld>
            <a:endParaRPr lang="en-US"/>
          </a:p>
        </p:txBody>
      </p:sp>
    </p:spTree>
    <p:extLst>
      <p:ext uri="{BB962C8B-B14F-4D97-AF65-F5344CB8AC3E}">
        <p14:creationId xmlns:p14="http://schemas.microsoft.com/office/powerpoint/2010/main" val="1666032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F2896-BD56-8955-894B-CD064FF98A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9317EF-29A9-44FD-81D4-6167E6C6CD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8309A3-A52D-8159-432F-7E46FF41816F}"/>
              </a:ext>
            </a:extLst>
          </p:cNvPr>
          <p:cNvSpPr>
            <a:spLocks noGrp="1"/>
          </p:cNvSpPr>
          <p:nvPr>
            <p:ph type="dt" sz="half" idx="10"/>
          </p:nvPr>
        </p:nvSpPr>
        <p:spPr/>
        <p:txBody>
          <a:bodyPr/>
          <a:lstStyle/>
          <a:p>
            <a:fld id="{3F07BAB5-938D-4085-B962-33A21B01E74E}" type="datetime1">
              <a:rPr lang="en-US" smtClean="0"/>
              <a:t>5/20/2026</a:t>
            </a:fld>
            <a:endParaRPr lang="en-US"/>
          </a:p>
        </p:txBody>
      </p:sp>
      <p:sp>
        <p:nvSpPr>
          <p:cNvPr id="5" name="Footer Placeholder 4">
            <a:extLst>
              <a:ext uri="{FF2B5EF4-FFF2-40B4-BE49-F238E27FC236}">
                <a16:creationId xmlns:a16="http://schemas.microsoft.com/office/drawing/2014/main" id="{D7E863B8-553A-A767-8D71-EC49C7AB9EC2}"/>
              </a:ext>
            </a:extLst>
          </p:cNvPr>
          <p:cNvSpPr>
            <a:spLocks noGrp="1"/>
          </p:cNvSpPr>
          <p:nvPr>
            <p:ph type="ftr" sz="quarter" idx="11"/>
          </p:nvPr>
        </p:nvSpPr>
        <p:spPr/>
        <p:txBody>
          <a:bodyPr/>
          <a:lstStyle/>
          <a:p>
            <a:r>
              <a:rPr lang="en-US"/>
              <a:t>Department of computing and communication technology</a:t>
            </a:r>
          </a:p>
        </p:txBody>
      </p:sp>
      <p:sp>
        <p:nvSpPr>
          <p:cNvPr id="6" name="Slide Number Placeholder 5">
            <a:extLst>
              <a:ext uri="{FF2B5EF4-FFF2-40B4-BE49-F238E27FC236}">
                <a16:creationId xmlns:a16="http://schemas.microsoft.com/office/drawing/2014/main" id="{B4D6B7C4-D091-AE9B-EE27-6C0F20E26635}"/>
              </a:ext>
            </a:extLst>
          </p:cNvPr>
          <p:cNvSpPr>
            <a:spLocks noGrp="1"/>
          </p:cNvSpPr>
          <p:nvPr>
            <p:ph type="sldNum" sz="quarter" idx="12"/>
          </p:nvPr>
        </p:nvSpPr>
        <p:spPr/>
        <p:txBody>
          <a:bodyPr/>
          <a:lstStyle/>
          <a:p>
            <a:fld id="{0616DE58-9979-4C84-A0C8-488E64327451}" type="slidenum">
              <a:rPr lang="en-US" smtClean="0"/>
              <a:t>‹#›</a:t>
            </a:fld>
            <a:endParaRPr lang="en-US"/>
          </a:p>
        </p:txBody>
      </p:sp>
    </p:spTree>
    <p:extLst>
      <p:ext uri="{BB962C8B-B14F-4D97-AF65-F5344CB8AC3E}">
        <p14:creationId xmlns:p14="http://schemas.microsoft.com/office/powerpoint/2010/main" val="1332030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7B8DF-E9DA-BB49-BB79-76E22E2E6F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E4B880-5A07-A951-8C2A-A319443FED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4A3CA9-9981-DF4A-3D65-D1B5DC4BB02E}"/>
              </a:ext>
            </a:extLst>
          </p:cNvPr>
          <p:cNvSpPr>
            <a:spLocks noGrp="1"/>
          </p:cNvSpPr>
          <p:nvPr>
            <p:ph type="dt" sz="half" idx="10"/>
          </p:nvPr>
        </p:nvSpPr>
        <p:spPr/>
        <p:txBody>
          <a:bodyPr/>
          <a:lstStyle/>
          <a:p>
            <a:fld id="{32E8F725-7CFE-40EC-AC12-E6DDFBB713C8}" type="datetime1">
              <a:rPr lang="en-US" smtClean="0"/>
              <a:t>5/20/2026</a:t>
            </a:fld>
            <a:endParaRPr lang="en-US"/>
          </a:p>
        </p:txBody>
      </p:sp>
      <p:sp>
        <p:nvSpPr>
          <p:cNvPr id="5" name="Footer Placeholder 4">
            <a:extLst>
              <a:ext uri="{FF2B5EF4-FFF2-40B4-BE49-F238E27FC236}">
                <a16:creationId xmlns:a16="http://schemas.microsoft.com/office/drawing/2014/main" id="{4BF6B6FF-2A65-C578-3059-4BF3DE38CBD3}"/>
              </a:ext>
            </a:extLst>
          </p:cNvPr>
          <p:cNvSpPr>
            <a:spLocks noGrp="1"/>
          </p:cNvSpPr>
          <p:nvPr>
            <p:ph type="ftr" sz="quarter" idx="11"/>
          </p:nvPr>
        </p:nvSpPr>
        <p:spPr/>
        <p:txBody>
          <a:bodyPr/>
          <a:lstStyle/>
          <a:p>
            <a:r>
              <a:rPr lang="en-US"/>
              <a:t>Department of computing and communication technology</a:t>
            </a:r>
          </a:p>
        </p:txBody>
      </p:sp>
      <p:sp>
        <p:nvSpPr>
          <p:cNvPr id="6" name="Slide Number Placeholder 5">
            <a:extLst>
              <a:ext uri="{FF2B5EF4-FFF2-40B4-BE49-F238E27FC236}">
                <a16:creationId xmlns:a16="http://schemas.microsoft.com/office/drawing/2014/main" id="{86DB287D-AD00-C40D-08EF-908BE724C43F}"/>
              </a:ext>
            </a:extLst>
          </p:cNvPr>
          <p:cNvSpPr>
            <a:spLocks noGrp="1"/>
          </p:cNvSpPr>
          <p:nvPr>
            <p:ph type="sldNum" sz="quarter" idx="12"/>
          </p:nvPr>
        </p:nvSpPr>
        <p:spPr/>
        <p:txBody>
          <a:bodyPr/>
          <a:lstStyle/>
          <a:p>
            <a:fld id="{0616DE58-9979-4C84-A0C8-488E64327451}" type="slidenum">
              <a:rPr lang="en-US" smtClean="0"/>
              <a:t>‹#›</a:t>
            </a:fld>
            <a:endParaRPr lang="en-US"/>
          </a:p>
        </p:txBody>
      </p:sp>
    </p:spTree>
    <p:extLst>
      <p:ext uri="{BB962C8B-B14F-4D97-AF65-F5344CB8AC3E}">
        <p14:creationId xmlns:p14="http://schemas.microsoft.com/office/powerpoint/2010/main" val="464781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2FB8A-1231-DD36-8484-58227B2A32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B8E8A81-F68E-E41D-DAFF-71AD2F061D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20CE6A-D9DD-396D-6D72-5B4D9F2C1957}"/>
              </a:ext>
            </a:extLst>
          </p:cNvPr>
          <p:cNvSpPr>
            <a:spLocks noGrp="1"/>
          </p:cNvSpPr>
          <p:nvPr>
            <p:ph type="dt" sz="half" idx="10"/>
          </p:nvPr>
        </p:nvSpPr>
        <p:spPr/>
        <p:txBody>
          <a:bodyPr/>
          <a:lstStyle/>
          <a:p>
            <a:fld id="{EA298631-CB70-4B37-B888-DE27737516B8}" type="datetime1">
              <a:rPr lang="en-US" smtClean="0"/>
              <a:t>5/20/2026</a:t>
            </a:fld>
            <a:endParaRPr lang="en-US"/>
          </a:p>
        </p:txBody>
      </p:sp>
      <p:sp>
        <p:nvSpPr>
          <p:cNvPr id="5" name="Footer Placeholder 4">
            <a:extLst>
              <a:ext uri="{FF2B5EF4-FFF2-40B4-BE49-F238E27FC236}">
                <a16:creationId xmlns:a16="http://schemas.microsoft.com/office/drawing/2014/main" id="{43830E0D-CB77-B49E-A552-B6E9BAF4BE4D}"/>
              </a:ext>
            </a:extLst>
          </p:cNvPr>
          <p:cNvSpPr>
            <a:spLocks noGrp="1"/>
          </p:cNvSpPr>
          <p:nvPr>
            <p:ph type="ftr" sz="quarter" idx="11"/>
          </p:nvPr>
        </p:nvSpPr>
        <p:spPr/>
        <p:txBody>
          <a:bodyPr/>
          <a:lstStyle/>
          <a:p>
            <a:r>
              <a:rPr lang="en-US"/>
              <a:t>Department of computing and communication technology</a:t>
            </a:r>
          </a:p>
        </p:txBody>
      </p:sp>
      <p:sp>
        <p:nvSpPr>
          <p:cNvPr id="6" name="Slide Number Placeholder 5">
            <a:extLst>
              <a:ext uri="{FF2B5EF4-FFF2-40B4-BE49-F238E27FC236}">
                <a16:creationId xmlns:a16="http://schemas.microsoft.com/office/drawing/2014/main" id="{958F71C7-458D-BD82-27AC-DE4861185BF1}"/>
              </a:ext>
            </a:extLst>
          </p:cNvPr>
          <p:cNvSpPr>
            <a:spLocks noGrp="1"/>
          </p:cNvSpPr>
          <p:nvPr>
            <p:ph type="sldNum" sz="quarter" idx="12"/>
          </p:nvPr>
        </p:nvSpPr>
        <p:spPr/>
        <p:txBody>
          <a:bodyPr/>
          <a:lstStyle/>
          <a:p>
            <a:fld id="{0616DE58-9979-4C84-A0C8-488E64327451}" type="slidenum">
              <a:rPr lang="en-US" smtClean="0"/>
              <a:t>‹#›</a:t>
            </a:fld>
            <a:endParaRPr lang="en-US"/>
          </a:p>
        </p:txBody>
      </p:sp>
    </p:spTree>
    <p:extLst>
      <p:ext uri="{BB962C8B-B14F-4D97-AF65-F5344CB8AC3E}">
        <p14:creationId xmlns:p14="http://schemas.microsoft.com/office/powerpoint/2010/main" val="1986678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48384-7B20-B4CA-8CEF-DD2D4516BE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916B6C-44C0-94BB-9A00-1870F5BBB1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D4278E5-2AF4-A71B-9CA3-0BC4641146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F17D66F-630E-FB70-6FF6-00FDC0FED1E5}"/>
              </a:ext>
            </a:extLst>
          </p:cNvPr>
          <p:cNvSpPr>
            <a:spLocks noGrp="1"/>
          </p:cNvSpPr>
          <p:nvPr>
            <p:ph type="dt" sz="half" idx="10"/>
          </p:nvPr>
        </p:nvSpPr>
        <p:spPr/>
        <p:txBody>
          <a:bodyPr/>
          <a:lstStyle/>
          <a:p>
            <a:fld id="{E52A43EB-1B4A-4993-8475-994D2843EFC6}" type="datetime1">
              <a:rPr lang="en-US" smtClean="0"/>
              <a:t>5/20/2026</a:t>
            </a:fld>
            <a:endParaRPr lang="en-US"/>
          </a:p>
        </p:txBody>
      </p:sp>
      <p:sp>
        <p:nvSpPr>
          <p:cNvPr id="6" name="Footer Placeholder 5">
            <a:extLst>
              <a:ext uri="{FF2B5EF4-FFF2-40B4-BE49-F238E27FC236}">
                <a16:creationId xmlns:a16="http://schemas.microsoft.com/office/drawing/2014/main" id="{CE9A66BA-7CB7-6AF3-EAFF-FE5FC0D9B348}"/>
              </a:ext>
            </a:extLst>
          </p:cNvPr>
          <p:cNvSpPr>
            <a:spLocks noGrp="1"/>
          </p:cNvSpPr>
          <p:nvPr>
            <p:ph type="ftr" sz="quarter" idx="11"/>
          </p:nvPr>
        </p:nvSpPr>
        <p:spPr/>
        <p:txBody>
          <a:bodyPr/>
          <a:lstStyle/>
          <a:p>
            <a:r>
              <a:rPr lang="en-US"/>
              <a:t>Department of computing and communication technology</a:t>
            </a:r>
          </a:p>
        </p:txBody>
      </p:sp>
      <p:sp>
        <p:nvSpPr>
          <p:cNvPr id="7" name="Slide Number Placeholder 6">
            <a:extLst>
              <a:ext uri="{FF2B5EF4-FFF2-40B4-BE49-F238E27FC236}">
                <a16:creationId xmlns:a16="http://schemas.microsoft.com/office/drawing/2014/main" id="{2FD71039-E045-F57C-CC5A-7E6366A181F1}"/>
              </a:ext>
            </a:extLst>
          </p:cNvPr>
          <p:cNvSpPr>
            <a:spLocks noGrp="1"/>
          </p:cNvSpPr>
          <p:nvPr>
            <p:ph type="sldNum" sz="quarter" idx="12"/>
          </p:nvPr>
        </p:nvSpPr>
        <p:spPr/>
        <p:txBody>
          <a:bodyPr/>
          <a:lstStyle/>
          <a:p>
            <a:fld id="{0616DE58-9979-4C84-A0C8-488E64327451}" type="slidenum">
              <a:rPr lang="en-US" smtClean="0"/>
              <a:t>‹#›</a:t>
            </a:fld>
            <a:endParaRPr lang="en-US"/>
          </a:p>
        </p:txBody>
      </p:sp>
    </p:spTree>
    <p:extLst>
      <p:ext uri="{BB962C8B-B14F-4D97-AF65-F5344CB8AC3E}">
        <p14:creationId xmlns:p14="http://schemas.microsoft.com/office/powerpoint/2010/main" val="1214349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77322-4828-1E8D-E39F-F67C0A14BD1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D295DF-0433-8FD1-D847-A4217A6DFC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80A57F-FE6A-8698-70E9-A07E450EAD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87CBFA5-B902-9FCD-EAB8-07D8256358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880ECA-58E0-A7C8-A8DA-1107861C51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7CF24E-59D6-6BD2-CC35-47F6EABDFE99}"/>
              </a:ext>
            </a:extLst>
          </p:cNvPr>
          <p:cNvSpPr>
            <a:spLocks noGrp="1"/>
          </p:cNvSpPr>
          <p:nvPr>
            <p:ph type="dt" sz="half" idx="10"/>
          </p:nvPr>
        </p:nvSpPr>
        <p:spPr/>
        <p:txBody>
          <a:bodyPr/>
          <a:lstStyle/>
          <a:p>
            <a:fld id="{333FD367-A278-4052-BE74-9FAC1258658D}" type="datetime1">
              <a:rPr lang="en-US" smtClean="0"/>
              <a:t>5/20/2026</a:t>
            </a:fld>
            <a:endParaRPr lang="en-US"/>
          </a:p>
        </p:txBody>
      </p:sp>
      <p:sp>
        <p:nvSpPr>
          <p:cNvPr id="8" name="Footer Placeholder 7">
            <a:extLst>
              <a:ext uri="{FF2B5EF4-FFF2-40B4-BE49-F238E27FC236}">
                <a16:creationId xmlns:a16="http://schemas.microsoft.com/office/drawing/2014/main" id="{9D8106A7-516B-2584-3DC3-16593B4E6E98}"/>
              </a:ext>
            </a:extLst>
          </p:cNvPr>
          <p:cNvSpPr>
            <a:spLocks noGrp="1"/>
          </p:cNvSpPr>
          <p:nvPr>
            <p:ph type="ftr" sz="quarter" idx="11"/>
          </p:nvPr>
        </p:nvSpPr>
        <p:spPr/>
        <p:txBody>
          <a:bodyPr/>
          <a:lstStyle/>
          <a:p>
            <a:r>
              <a:rPr lang="en-US"/>
              <a:t>Department of computing and communication technology</a:t>
            </a:r>
          </a:p>
        </p:txBody>
      </p:sp>
      <p:sp>
        <p:nvSpPr>
          <p:cNvPr id="9" name="Slide Number Placeholder 8">
            <a:extLst>
              <a:ext uri="{FF2B5EF4-FFF2-40B4-BE49-F238E27FC236}">
                <a16:creationId xmlns:a16="http://schemas.microsoft.com/office/drawing/2014/main" id="{6E55ED71-6B4D-39FA-66AA-AE8D1C6B7D43}"/>
              </a:ext>
            </a:extLst>
          </p:cNvPr>
          <p:cNvSpPr>
            <a:spLocks noGrp="1"/>
          </p:cNvSpPr>
          <p:nvPr>
            <p:ph type="sldNum" sz="quarter" idx="12"/>
          </p:nvPr>
        </p:nvSpPr>
        <p:spPr/>
        <p:txBody>
          <a:bodyPr/>
          <a:lstStyle/>
          <a:p>
            <a:fld id="{0616DE58-9979-4C84-A0C8-488E64327451}" type="slidenum">
              <a:rPr lang="en-US" smtClean="0"/>
              <a:t>‹#›</a:t>
            </a:fld>
            <a:endParaRPr lang="en-US"/>
          </a:p>
        </p:txBody>
      </p:sp>
    </p:spTree>
    <p:extLst>
      <p:ext uri="{BB962C8B-B14F-4D97-AF65-F5344CB8AC3E}">
        <p14:creationId xmlns:p14="http://schemas.microsoft.com/office/powerpoint/2010/main" val="1462287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DEA66-1DAF-E9AF-168E-B5C02A6C29D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0DFE08-6EE1-9D86-E77F-F8EDF6483DF8}"/>
              </a:ext>
            </a:extLst>
          </p:cNvPr>
          <p:cNvSpPr>
            <a:spLocks noGrp="1"/>
          </p:cNvSpPr>
          <p:nvPr>
            <p:ph type="dt" sz="half" idx="10"/>
          </p:nvPr>
        </p:nvSpPr>
        <p:spPr/>
        <p:txBody>
          <a:bodyPr/>
          <a:lstStyle/>
          <a:p>
            <a:fld id="{C16A150C-4521-40EF-96ED-1B693B385645}" type="datetime1">
              <a:rPr lang="en-US" smtClean="0"/>
              <a:t>5/20/2026</a:t>
            </a:fld>
            <a:endParaRPr lang="en-US"/>
          </a:p>
        </p:txBody>
      </p:sp>
      <p:sp>
        <p:nvSpPr>
          <p:cNvPr id="4" name="Footer Placeholder 3">
            <a:extLst>
              <a:ext uri="{FF2B5EF4-FFF2-40B4-BE49-F238E27FC236}">
                <a16:creationId xmlns:a16="http://schemas.microsoft.com/office/drawing/2014/main" id="{B82EA08C-633D-11FF-38A9-5817096B5971}"/>
              </a:ext>
            </a:extLst>
          </p:cNvPr>
          <p:cNvSpPr>
            <a:spLocks noGrp="1"/>
          </p:cNvSpPr>
          <p:nvPr>
            <p:ph type="ftr" sz="quarter" idx="11"/>
          </p:nvPr>
        </p:nvSpPr>
        <p:spPr/>
        <p:txBody>
          <a:bodyPr/>
          <a:lstStyle/>
          <a:p>
            <a:r>
              <a:rPr lang="en-US"/>
              <a:t>Department of computing and communication technology</a:t>
            </a:r>
          </a:p>
        </p:txBody>
      </p:sp>
      <p:sp>
        <p:nvSpPr>
          <p:cNvPr id="5" name="Slide Number Placeholder 4">
            <a:extLst>
              <a:ext uri="{FF2B5EF4-FFF2-40B4-BE49-F238E27FC236}">
                <a16:creationId xmlns:a16="http://schemas.microsoft.com/office/drawing/2014/main" id="{50FB3E7A-829D-7EE6-F816-DD3B6AFFBF8D}"/>
              </a:ext>
            </a:extLst>
          </p:cNvPr>
          <p:cNvSpPr>
            <a:spLocks noGrp="1"/>
          </p:cNvSpPr>
          <p:nvPr>
            <p:ph type="sldNum" sz="quarter" idx="12"/>
          </p:nvPr>
        </p:nvSpPr>
        <p:spPr/>
        <p:txBody>
          <a:bodyPr/>
          <a:lstStyle/>
          <a:p>
            <a:fld id="{0616DE58-9979-4C84-A0C8-488E64327451}" type="slidenum">
              <a:rPr lang="en-US" smtClean="0"/>
              <a:t>‹#›</a:t>
            </a:fld>
            <a:endParaRPr lang="en-US"/>
          </a:p>
        </p:txBody>
      </p:sp>
    </p:spTree>
    <p:extLst>
      <p:ext uri="{BB962C8B-B14F-4D97-AF65-F5344CB8AC3E}">
        <p14:creationId xmlns:p14="http://schemas.microsoft.com/office/powerpoint/2010/main" val="2593704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E18A70-82A5-F29D-CA8C-4C9178A6536F}"/>
              </a:ext>
            </a:extLst>
          </p:cNvPr>
          <p:cNvSpPr>
            <a:spLocks noGrp="1"/>
          </p:cNvSpPr>
          <p:nvPr>
            <p:ph type="dt" sz="half" idx="10"/>
          </p:nvPr>
        </p:nvSpPr>
        <p:spPr/>
        <p:txBody>
          <a:bodyPr/>
          <a:lstStyle/>
          <a:p>
            <a:fld id="{40A7ADCE-D93D-49F7-A46F-322009A7A7F9}" type="datetime1">
              <a:rPr lang="en-US" smtClean="0"/>
              <a:t>5/20/2026</a:t>
            </a:fld>
            <a:endParaRPr lang="en-US"/>
          </a:p>
        </p:txBody>
      </p:sp>
      <p:sp>
        <p:nvSpPr>
          <p:cNvPr id="3" name="Footer Placeholder 2">
            <a:extLst>
              <a:ext uri="{FF2B5EF4-FFF2-40B4-BE49-F238E27FC236}">
                <a16:creationId xmlns:a16="http://schemas.microsoft.com/office/drawing/2014/main" id="{FD74453B-2C87-166D-27D9-0FFA3A1E8D72}"/>
              </a:ext>
            </a:extLst>
          </p:cNvPr>
          <p:cNvSpPr>
            <a:spLocks noGrp="1"/>
          </p:cNvSpPr>
          <p:nvPr>
            <p:ph type="ftr" sz="quarter" idx="11"/>
          </p:nvPr>
        </p:nvSpPr>
        <p:spPr/>
        <p:txBody>
          <a:bodyPr/>
          <a:lstStyle/>
          <a:p>
            <a:r>
              <a:rPr lang="en-US"/>
              <a:t>Department of computing and communication technology</a:t>
            </a:r>
          </a:p>
        </p:txBody>
      </p:sp>
      <p:sp>
        <p:nvSpPr>
          <p:cNvPr id="4" name="Slide Number Placeholder 3">
            <a:extLst>
              <a:ext uri="{FF2B5EF4-FFF2-40B4-BE49-F238E27FC236}">
                <a16:creationId xmlns:a16="http://schemas.microsoft.com/office/drawing/2014/main" id="{ED89ED71-AB72-2173-C594-C8B2B0CB44B6}"/>
              </a:ext>
            </a:extLst>
          </p:cNvPr>
          <p:cNvSpPr>
            <a:spLocks noGrp="1"/>
          </p:cNvSpPr>
          <p:nvPr>
            <p:ph type="sldNum" sz="quarter" idx="12"/>
          </p:nvPr>
        </p:nvSpPr>
        <p:spPr/>
        <p:txBody>
          <a:bodyPr/>
          <a:lstStyle/>
          <a:p>
            <a:fld id="{0616DE58-9979-4C84-A0C8-488E64327451}" type="slidenum">
              <a:rPr lang="en-US" smtClean="0"/>
              <a:t>‹#›</a:t>
            </a:fld>
            <a:endParaRPr lang="en-US"/>
          </a:p>
        </p:txBody>
      </p:sp>
    </p:spTree>
    <p:extLst>
      <p:ext uri="{BB962C8B-B14F-4D97-AF65-F5344CB8AC3E}">
        <p14:creationId xmlns:p14="http://schemas.microsoft.com/office/powerpoint/2010/main" val="4081922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5BF6D-536D-6E8D-BE02-203FE22C12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15659E2-EF28-35B4-0F92-6B30EDC7F6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DA4D6F-C7B5-5CE0-D461-EE30E105D1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6809A4-8500-5683-21E4-AFA903184A54}"/>
              </a:ext>
            </a:extLst>
          </p:cNvPr>
          <p:cNvSpPr>
            <a:spLocks noGrp="1"/>
          </p:cNvSpPr>
          <p:nvPr>
            <p:ph type="dt" sz="half" idx="10"/>
          </p:nvPr>
        </p:nvSpPr>
        <p:spPr/>
        <p:txBody>
          <a:bodyPr/>
          <a:lstStyle/>
          <a:p>
            <a:fld id="{0359C2FE-1330-4B4A-A9E2-FB3C65460C5C}" type="datetime1">
              <a:rPr lang="en-US" smtClean="0"/>
              <a:t>5/20/2026</a:t>
            </a:fld>
            <a:endParaRPr lang="en-US"/>
          </a:p>
        </p:txBody>
      </p:sp>
      <p:sp>
        <p:nvSpPr>
          <p:cNvPr id="6" name="Footer Placeholder 5">
            <a:extLst>
              <a:ext uri="{FF2B5EF4-FFF2-40B4-BE49-F238E27FC236}">
                <a16:creationId xmlns:a16="http://schemas.microsoft.com/office/drawing/2014/main" id="{C8BFF00C-5634-4027-AA06-94A76AB30B43}"/>
              </a:ext>
            </a:extLst>
          </p:cNvPr>
          <p:cNvSpPr>
            <a:spLocks noGrp="1"/>
          </p:cNvSpPr>
          <p:nvPr>
            <p:ph type="ftr" sz="quarter" idx="11"/>
          </p:nvPr>
        </p:nvSpPr>
        <p:spPr/>
        <p:txBody>
          <a:bodyPr/>
          <a:lstStyle/>
          <a:p>
            <a:r>
              <a:rPr lang="en-US"/>
              <a:t>Department of computing and communication technology</a:t>
            </a:r>
          </a:p>
        </p:txBody>
      </p:sp>
      <p:sp>
        <p:nvSpPr>
          <p:cNvPr id="7" name="Slide Number Placeholder 6">
            <a:extLst>
              <a:ext uri="{FF2B5EF4-FFF2-40B4-BE49-F238E27FC236}">
                <a16:creationId xmlns:a16="http://schemas.microsoft.com/office/drawing/2014/main" id="{AA716260-BF2C-6DD8-4BDE-58550EB32E3D}"/>
              </a:ext>
            </a:extLst>
          </p:cNvPr>
          <p:cNvSpPr>
            <a:spLocks noGrp="1"/>
          </p:cNvSpPr>
          <p:nvPr>
            <p:ph type="sldNum" sz="quarter" idx="12"/>
          </p:nvPr>
        </p:nvSpPr>
        <p:spPr/>
        <p:txBody>
          <a:bodyPr/>
          <a:lstStyle/>
          <a:p>
            <a:fld id="{0616DE58-9979-4C84-A0C8-488E64327451}" type="slidenum">
              <a:rPr lang="en-US" smtClean="0"/>
              <a:t>‹#›</a:t>
            </a:fld>
            <a:endParaRPr lang="en-US"/>
          </a:p>
        </p:txBody>
      </p:sp>
    </p:spTree>
    <p:extLst>
      <p:ext uri="{BB962C8B-B14F-4D97-AF65-F5344CB8AC3E}">
        <p14:creationId xmlns:p14="http://schemas.microsoft.com/office/powerpoint/2010/main" val="1756528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63EFE-9B5E-9E38-BB23-7EC362A63E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BECEB4-9ACE-413D-E9B8-95329FB717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7F4BD3-6DA2-C7E2-BFC0-0929F4908F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948B05-03AB-9A70-79D9-7A29A122CB22}"/>
              </a:ext>
            </a:extLst>
          </p:cNvPr>
          <p:cNvSpPr>
            <a:spLocks noGrp="1"/>
          </p:cNvSpPr>
          <p:nvPr>
            <p:ph type="dt" sz="half" idx="10"/>
          </p:nvPr>
        </p:nvSpPr>
        <p:spPr/>
        <p:txBody>
          <a:bodyPr/>
          <a:lstStyle/>
          <a:p>
            <a:fld id="{5779AF91-F3DE-4D12-BEB3-86A0383C9B9A}" type="datetime1">
              <a:rPr lang="en-US" smtClean="0"/>
              <a:t>5/20/2026</a:t>
            </a:fld>
            <a:endParaRPr lang="en-US"/>
          </a:p>
        </p:txBody>
      </p:sp>
      <p:sp>
        <p:nvSpPr>
          <p:cNvPr id="6" name="Footer Placeholder 5">
            <a:extLst>
              <a:ext uri="{FF2B5EF4-FFF2-40B4-BE49-F238E27FC236}">
                <a16:creationId xmlns:a16="http://schemas.microsoft.com/office/drawing/2014/main" id="{6053C9E2-07DB-F028-1C9C-7B96A010144B}"/>
              </a:ext>
            </a:extLst>
          </p:cNvPr>
          <p:cNvSpPr>
            <a:spLocks noGrp="1"/>
          </p:cNvSpPr>
          <p:nvPr>
            <p:ph type="ftr" sz="quarter" idx="11"/>
          </p:nvPr>
        </p:nvSpPr>
        <p:spPr/>
        <p:txBody>
          <a:bodyPr/>
          <a:lstStyle/>
          <a:p>
            <a:r>
              <a:rPr lang="en-US"/>
              <a:t>Department of computing and communication technology</a:t>
            </a:r>
          </a:p>
        </p:txBody>
      </p:sp>
      <p:sp>
        <p:nvSpPr>
          <p:cNvPr id="7" name="Slide Number Placeholder 6">
            <a:extLst>
              <a:ext uri="{FF2B5EF4-FFF2-40B4-BE49-F238E27FC236}">
                <a16:creationId xmlns:a16="http://schemas.microsoft.com/office/drawing/2014/main" id="{60DBF86C-0F3C-202E-04BC-E9AD237C9B94}"/>
              </a:ext>
            </a:extLst>
          </p:cNvPr>
          <p:cNvSpPr>
            <a:spLocks noGrp="1"/>
          </p:cNvSpPr>
          <p:nvPr>
            <p:ph type="sldNum" sz="quarter" idx="12"/>
          </p:nvPr>
        </p:nvSpPr>
        <p:spPr/>
        <p:txBody>
          <a:bodyPr/>
          <a:lstStyle/>
          <a:p>
            <a:fld id="{0616DE58-9979-4C84-A0C8-488E64327451}" type="slidenum">
              <a:rPr lang="en-US" smtClean="0"/>
              <a:t>‹#›</a:t>
            </a:fld>
            <a:endParaRPr lang="en-US"/>
          </a:p>
        </p:txBody>
      </p:sp>
    </p:spTree>
    <p:extLst>
      <p:ext uri="{BB962C8B-B14F-4D97-AF65-F5344CB8AC3E}">
        <p14:creationId xmlns:p14="http://schemas.microsoft.com/office/powerpoint/2010/main" val="1684642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D7E9F-47B0-4814-1EBD-BCF75663F68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1D61627-BD7B-AAE0-822E-1AB6FFB0A4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CF62FA-1D43-8BAD-C4AC-38ACAFA54314}"/>
              </a:ext>
            </a:extLst>
          </p:cNvPr>
          <p:cNvSpPr>
            <a:spLocks noGrp="1"/>
          </p:cNvSpPr>
          <p:nvPr>
            <p:ph type="dt" sz="half" idx="10"/>
          </p:nvPr>
        </p:nvSpPr>
        <p:spPr/>
        <p:txBody>
          <a:bodyPr/>
          <a:lstStyle/>
          <a:p>
            <a:fld id="{35A09A5A-B9D2-4D3D-AEE3-AC46715F4AF2}" type="datetime1">
              <a:rPr lang="en-US" smtClean="0"/>
              <a:t>5/20/2026</a:t>
            </a:fld>
            <a:endParaRPr lang="en-US"/>
          </a:p>
        </p:txBody>
      </p:sp>
      <p:sp>
        <p:nvSpPr>
          <p:cNvPr id="5" name="Footer Placeholder 4">
            <a:extLst>
              <a:ext uri="{FF2B5EF4-FFF2-40B4-BE49-F238E27FC236}">
                <a16:creationId xmlns:a16="http://schemas.microsoft.com/office/drawing/2014/main" id="{DC5F0911-C962-8B90-EE5E-8D6B5F6A94DF}"/>
              </a:ext>
            </a:extLst>
          </p:cNvPr>
          <p:cNvSpPr>
            <a:spLocks noGrp="1"/>
          </p:cNvSpPr>
          <p:nvPr>
            <p:ph type="ftr" sz="quarter" idx="11"/>
          </p:nvPr>
        </p:nvSpPr>
        <p:spPr/>
        <p:txBody>
          <a:bodyPr/>
          <a:lstStyle/>
          <a:p>
            <a:r>
              <a:rPr lang="en-US"/>
              <a:t>Department of computing and communication technology</a:t>
            </a:r>
          </a:p>
        </p:txBody>
      </p:sp>
      <p:sp>
        <p:nvSpPr>
          <p:cNvPr id="6" name="Slide Number Placeholder 5">
            <a:extLst>
              <a:ext uri="{FF2B5EF4-FFF2-40B4-BE49-F238E27FC236}">
                <a16:creationId xmlns:a16="http://schemas.microsoft.com/office/drawing/2014/main" id="{3A4F0020-2C3F-9D03-2EE7-8E3AC59FEC46}"/>
              </a:ext>
            </a:extLst>
          </p:cNvPr>
          <p:cNvSpPr>
            <a:spLocks noGrp="1"/>
          </p:cNvSpPr>
          <p:nvPr>
            <p:ph type="sldNum" sz="quarter" idx="12"/>
          </p:nvPr>
        </p:nvSpPr>
        <p:spPr/>
        <p:txBody>
          <a:bodyPr/>
          <a:lstStyle/>
          <a:p>
            <a:fld id="{0616DE58-9979-4C84-A0C8-488E64327451}" type="slidenum">
              <a:rPr lang="en-US" smtClean="0"/>
              <a:t>‹#›</a:t>
            </a:fld>
            <a:endParaRPr lang="en-US"/>
          </a:p>
        </p:txBody>
      </p:sp>
    </p:spTree>
    <p:extLst>
      <p:ext uri="{BB962C8B-B14F-4D97-AF65-F5344CB8AC3E}">
        <p14:creationId xmlns:p14="http://schemas.microsoft.com/office/powerpoint/2010/main" val="270077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B107AF-B31C-1CE8-85E3-031271012E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14B762-C2A4-4240-45E5-1784A1B311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0FCEEE-1CBD-72EF-7527-C82A54D51DC4}"/>
              </a:ext>
            </a:extLst>
          </p:cNvPr>
          <p:cNvSpPr>
            <a:spLocks noGrp="1"/>
          </p:cNvSpPr>
          <p:nvPr>
            <p:ph type="dt" sz="half" idx="10"/>
          </p:nvPr>
        </p:nvSpPr>
        <p:spPr/>
        <p:txBody>
          <a:bodyPr/>
          <a:lstStyle/>
          <a:p>
            <a:fld id="{452FDED3-200E-404A-A47E-8DF41131BF7C}" type="datetime1">
              <a:rPr lang="en-US" smtClean="0"/>
              <a:t>5/20/2026</a:t>
            </a:fld>
            <a:endParaRPr lang="en-US"/>
          </a:p>
        </p:txBody>
      </p:sp>
      <p:sp>
        <p:nvSpPr>
          <p:cNvPr id="5" name="Footer Placeholder 4">
            <a:extLst>
              <a:ext uri="{FF2B5EF4-FFF2-40B4-BE49-F238E27FC236}">
                <a16:creationId xmlns:a16="http://schemas.microsoft.com/office/drawing/2014/main" id="{E9270E26-DC9C-8ABC-46C4-8793B83B95F3}"/>
              </a:ext>
            </a:extLst>
          </p:cNvPr>
          <p:cNvSpPr>
            <a:spLocks noGrp="1"/>
          </p:cNvSpPr>
          <p:nvPr>
            <p:ph type="ftr" sz="quarter" idx="11"/>
          </p:nvPr>
        </p:nvSpPr>
        <p:spPr/>
        <p:txBody>
          <a:bodyPr/>
          <a:lstStyle/>
          <a:p>
            <a:r>
              <a:rPr lang="en-US"/>
              <a:t>Department of computing and communication technology</a:t>
            </a:r>
          </a:p>
        </p:txBody>
      </p:sp>
      <p:sp>
        <p:nvSpPr>
          <p:cNvPr id="6" name="Slide Number Placeholder 5">
            <a:extLst>
              <a:ext uri="{FF2B5EF4-FFF2-40B4-BE49-F238E27FC236}">
                <a16:creationId xmlns:a16="http://schemas.microsoft.com/office/drawing/2014/main" id="{2AB3049A-2399-55E2-B858-C950FDAF14B6}"/>
              </a:ext>
            </a:extLst>
          </p:cNvPr>
          <p:cNvSpPr>
            <a:spLocks noGrp="1"/>
          </p:cNvSpPr>
          <p:nvPr>
            <p:ph type="sldNum" sz="quarter" idx="12"/>
          </p:nvPr>
        </p:nvSpPr>
        <p:spPr/>
        <p:txBody>
          <a:bodyPr/>
          <a:lstStyle/>
          <a:p>
            <a:fld id="{0616DE58-9979-4C84-A0C8-488E64327451}" type="slidenum">
              <a:rPr lang="en-US" smtClean="0"/>
              <a:t>‹#›</a:t>
            </a:fld>
            <a:endParaRPr lang="en-US"/>
          </a:p>
        </p:txBody>
      </p:sp>
    </p:spTree>
    <p:extLst>
      <p:ext uri="{BB962C8B-B14F-4D97-AF65-F5344CB8AC3E}">
        <p14:creationId xmlns:p14="http://schemas.microsoft.com/office/powerpoint/2010/main" val="3102452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DBBF3D-E3AF-BF67-9AE1-BDA78696ED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0883085-94BF-92FE-FAAD-6F744196E9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809C18-66C7-2D03-20E7-D376D6DE52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0F9FC7-4D65-464B-B626-7A42AF49A1FE}" type="datetime1">
              <a:rPr lang="en-US" smtClean="0"/>
              <a:t>5/20/2026</a:t>
            </a:fld>
            <a:endParaRPr lang="en-US"/>
          </a:p>
        </p:txBody>
      </p:sp>
      <p:sp>
        <p:nvSpPr>
          <p:cNvPr id="5" name="Footer Placeholder 4">
            <a:extLst>
              <a:ext uri="{FF2B5EF4-FFF2-40B4-BE49-F238E27FC236}">
                <a16:creationId xmlns:a16="http://schemas.microsoft.com/office/drawing/2014/main" id="{C65A4AC5-9A2C-46BA-489C-AE0B03A0E1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computing and communication technology</a:t>
            </a:r>
          </a:p>
        </p:txBody>
      </p:sp>
      <p:sp>
        <p:nvSpPr>
          <p:cNvPr id="6" name="Slide Number Placeholder 5">
            <a:extLst>
              <a:ext uri="{FF2B5EF4-FFF2-40B4-BE49-F238E27FC236}">
                <a16:creationId xmlns:a16="http://schemas.microsoft.com/office/drawing/2014/main" id="{7BD44171-DFC4-6363-254A-9A0BC26800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16DE58-9979-4C84-A0C8-488E64327451}" type="slidenum">
              <a:rPr lang="en-US" smtClean="0"/>
              <a:t>‹#›</a:t>
            </a:fld>
            <a:endParaRPr lang="en-US"/>
          </a:p>
        </p:txBody>
      </p:sp>
    </p:spTree>
    <p:extLst>
      <p:ext uri="{BB962C8B-B14F-4D97-AF65-F5344CB8AC3E}">
        <p14:creationId xmlns:p14="http://schemas.microsoft.com/office/powerpoint/2010/main" val="32244359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infotaaluma.com/" TargetMode="External"/><Relationship Id="rId2" Type="http://schemas.openxmlformats.org/officeDocument/2006/relationships/hyperlink" Target="https://shulesoft.africa/"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6E905-6CDF-0845-0E3F-0E30064143D0}"/>
              </a:ext>
            </a:extLst>
          </p:cNvPr>
          <p:cNvSpPr>
            <a:spLocks noGrp="1"/>
          </p:cNvSpPr>
          <p:nvPr>
            <p:ph type="title"/>
          </p:nvPr>
        </p:nvSpPr>
        <p:spPr/>
        <p:txBody>
          <a:bodyPr/>
          <a:lstStyle/>
          <a:p>
            <a:pPr algn="ctr"/>
            <a:r>
              <a:rPr lang="en-US" dirty="0">
                <a:solidFill>
                  <a:srgbClr val="FF0000"/>
                </a:solidFill>
              </a:rPr>
              <a:t>PROJECT MEMBERS</a:t>
            </a:r>
          </a:p>
        </p:txBody>
      </p:sp>
      <p:graphicFrame>
        <p:nvGraphicFramePr>
          <p:cNvPr id="5" name="Content Placeholder 4">
            <a:extLst>
              <a:ext uri="{FF2B5EF4-FFF2-40B4-BE49-F238E27FC236}">
                <a16:creationId xmlns:a16="http://schemas.microsoft.com/office/drawing/2014/main" id="{655BD560-6356-EC69-52F7-1B793E1981D4}"/>
              </a:ext>
            </a:extLst>
          </p:cNvPr>
          <p:cNvGraphicFramePr>
            <a:graphicFrameLocks noGrp="1"/>
          </p:cNvGraphicFramePr>
          <p:nvPr>
            <p:ph idx="1"/>
            <p:extLst>
              <p:ext uri="{D42A27DB-BD31-4B8C-83A1-F6EECF244321}">
                <p14:modId xmlns:p14="http://schemas.microsoft.com/office/powerpoint/2010/main" val="2220134180"/>
              </p:ext>
            </p:extLst>
          </p:nvPr>
        </p:nvGraphicFramePr>
        <p:xfrm>
          <a:off x="1175657" y="1798479"/>
          <a:ext cx="10515597" cy="1854200"/>
        </p:xfrm>
        <a:graphic>
          <a:graphicData uri="http://schemas.openxmlformats.org/drawingml/2006/table">
            <a:tbl>
              <a:tblPr firstRow="1" bandRow="1">
                <a:tableStyleId>{7DF18680-E054-41AD-8BC1-D1AEF772440D}</a:tableStyleId>
              </a:tblPr>
              <a:tblGrid>
                <a:gridCol w="544286">
                  <a:extLst>
                    <a:ext uri="{9D8B030D-6E8A-4147-A177-3AD203B41FA5}">
                      <a16:colId xmlns:a16="http://schemas.microsoft.com/office/drawing/2014/main" val="514372508"/>
                    </a:ext>
                  </a:extLst>
                </a:gridCol>
                <a:gridCol w="4713514">
                  <a:extLst>
                    <a:ext uri="{9D8B030D-6E8A-4147-A177-3AD203B41FA5}">
                      <a16:colId xmlns:a16="http://schemas.microsoft.com/office/drawing/2014/main" val="439586959"/>
                    </a:ext>
                  </a:extLst>
                </a:gridCol>
                <a:gridCol w="5257797">
                  <a:extLst>
                    <a:ext uri="{9D8B030D-6E8A-4147-A177-3AD203B41FA5}">
                      <a16:colId xmlns:a16="http://schemas.microsoft.com/office/drawing/2014/main" val="1615269907"/>
                    </a:ext>
                  </a:extLst>
                </a:gridCol>
              </a:tblGrid>
              <a:tr h="370840">
                <a:tc>
                  <a:txBody>
                    <a:bodyPr/>
                    <a:lstStyle/>
                    <a:p>
                      <a:r>
                        <a:rPr lang="en-US" dirty="0"/>
                        <a:t>S/N</a:t>
                      </a:r>
                    </a:p>
                  </a:txBody>
                  <a:tcPr/>
                </a:tc>
                <a:tc>
                  <a:txBody>
                    <a:bodyPr/>
                    <a:lstStyle/>
                    <a:p>
                      <a:r>
                        <a:rPr lang="en-US" dirty="0"/>
                        <a:t>FULL NAME</a:t>
                      </a:r>
                    </a:p>
                  </a:txBody>
                  <a:tcPr/>
                </a:tc>
                <a:tc>
                  <a:txBody>
                    <a:bodyPr/>
                    <a:lstStyle/>
                    <a:p>
                      <a:r>
                        <a:rPr lang="en-US" dirty="0"/>
                        <a:t>REG.NUMBER</a:t>
                      </a:r>
                    </a:p>
                  </a:txBody>
                  <a:tcPr/>
                </a:tc>
                <a:extLst>
                  <a:ext uri="{0D108BD9-81ED-4DB2-BD59-A6C34878D82A}">
                    <a16:rowId xmlns:a16="http://schemas.microsoft.com/office/drawing/2014/main" val="52511721"/>
                  </a:ext>
                </a:extLst>
              </a:tr>
              <a:tr h="370840">
                <a:tc>
                  <a:txBody>
                    <a:bodyPr/>
                    <a:lstStyle/>
                    <a:p>
                      <a:r>
                        <a:rPr lang="en-US" dirty="0"/>
                        <a:t>01</a:t>
                      </a:r>
                    </a:p>
                  </a:txBody>
                  <a:tcPr/>
                </a:tc>
                <a:tc>
                  <a:txBody>
                    <a:bodyPr/>
                    <a:lstStyle/>
                    <a:p>
                      <a:r>
                        <a:rPr lang="en-US" dirty="0"/>
                        <a:t>JACKSON AYUBU MWALONGO</a:t>
                      </a:r>
                    </a:p>
                  </a:txBody>
                  <a:tcPr/>
                </a:tc>
                <a:tc>
                  <a:txBody>
                    <a:bodyPr/>
                    <a:lstStyle/>
                    <a:p>
                      <a:r>
                        <a:rPr lang="en-US" dirty="0"/>
                        <a:t>NIT/BCS/2023/492</a:t>
                      </a:r>
                    </a:p>
                  </a:txBody>
                  <a:tcPr/>
                </a:tc>
                <a:extLst>
                  <a:ext uri="{0D108BD9-81ED-4DB2-BD59-A6C34878D82A}">
                    <a16:rowId xmlns:a16="http://schemas.microsoft.com/office/drawing/2014/main" val="3257261078"/>
                  </a:ext>
                </a:extLst>
              </a:tr>
              <a:tr h="370840">
                <a:tc>
                  <a:txBody>
                    <a:bodyPr/>
                    <a:lstStyle/>
                    <a:p>
                      <a:r>
                        <a:rPr lang="en-US" dirty="0"/>
                        <a:t>02</a:t>
                      </a:r>
                    </a:p>
                  </a:txBody>
                  <a:tcPr/>
                </a:tc>
                <a:tc>
                  <a:txBody>
                    <a:bodyPr/>
                    <a:lstStyle/>
                    <a:p>
                      <a:r>
                        <a:rPr lang="en-US" dirty="0"/>
                        <a:t>NAZAKIA JAPAN MARTINE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NIT/BIT/2023/2164</a:t>
                      </a:r>
                    </a:p>
                  </a:txBody>
                  <a:tcPr/>
                </a:tc>
                <a:extLst>
                  <a:ext uri="{0D108BD9-81ED-4DB2-BD59-A6C34878D82A}">
                    <a16:rowId xmlns:a16="http://schemas.microsoft.com/office/drawing/2014/main" val="4102099643"/>
                  </a:ext>
                </a:extLst>
              </a:tr>
              <a:tr h="370840">
                <a:tc>
                  <a:txBody>
                    <a:bodyPr/>
                    <a:lstStyle/>
                    <a:p>
                      <a:r>
                        <a:rPr lang="en-US" dirty="0"/>
                        <a:t>03</a:t>
                      </a:r>
                    </a:p>
                  </a:txBody>
                  <a:tcPr/>
                </a:tc>
                <a:tc>
                  <a:txBody>
                    <a:bodyPr/>
                    <a:lstStyle/>
                    <a:p>
                      <a:r>
                        <a:rPr lang="en-US" dirty="0"/>
                        <a:t>VIVIAN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NIT/BIT/2023/</a:t>
                      </a:r>
                    </a:p>
                  </a:txBody>
                  <a:tcPr/>
                </a:tc>
                <a:extLst>
                  <a:ext uri="{0D108BD9-81ED-4DB2-BD59-A6C34878D82A}">
                    <a16:rowId xmlns:a16="http://schemas.microsoft.com/office/drawing/2014/main" val="873661259"/>
                  </a:ext>
                </a:extLst>
              </a:tr>
              <a:tr h="370840">
                <a:tc>
                  <a:txBody>
                    <a:bodyPr/>
                    <a:lstStyle/>
                    <a:p>
                      <a:r>
                        <a:rPr lang="en-US" dirty="0"/>
                        <a:t>04</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941466517"/>
                  </a:ext>
                </a:extLst>
              </a:tr>
            </a:tbl>
          </a:graphicData>
        </a:graphic>
      </p:graphicFrame>
      <p:sp>
        <p:nvSpPr>
          <p:cNvPr id="4" name="Footer Placeholder 3">
            <a:extLst>
              <a:ext uri="{FF2B5EF4-FFF2-40B4-BE49-F238E27FC236}">
                <a16:creationId xmlns:a16="http://schemas.microsoft.com/office/drawing/2014/main" id="{7C7E7E09-3C5A-36BD-0A89-8626567CA9C7}"/>
              </a:ext>
            </a:extLst>
          </p:cNvPr>
          <p:cNvSpPr>
            <a:spLocks noGrp="1"/>
          </p:cNvSpPr>
          <p:nvPr>
            <p:ph type="ftr" sz="quarter" idx="11"/>
          </p:nvPr>
        </p:nvSpPr>
        <p:spPr/>
        <p:txBody>
          <a:bodyPr/>
          <a:lstStyle/>
          <a:p>
            <a:r>
              <a:rPr lang="en-US"/>
              <a:t>Department of computing and communication technology</a:t>
            </a:r>
          </a:p>
        </p:txBody>
      </p:sp>
    </p:spTree>
    <p:extLst>
      <p:ext uri="{BB962C8B-B14F-4D97-AF65-F5344CB8AC3E}">
        <p14:creationId xmlns:p14="http://schemas.microsoft.com/office/powerpoint/2010/main" val="1005383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AD64F-2647-205E-4D9E-7AC001BBF2E8}"/>
              </a:ext>
            </a:extLst>
          </p:cNvPr>
          <p:cNvSpPr>
            <a:spLocks noGrp="1"/>
          </p:cNvSpPr>
          <p:nvPr>
            <p:ph type="ctrTitle"/>
          </p:nvPr>
        </p:nvSpPr>
        <p:spPr>
          <a:xfrm>
            <a:off x="1524000" y="136525"/>
            <a:ext cx="9144000" cy="1852837"/>
          </a:xfrm>
        </p:spPr>
        <p:txBody>
          <a:bodyPr>
            <a:normAutofit/>
          </a:bodyPr>
          <a:lstStyle/>
          <a:p>
            <a:r>
              <a:rPr lang="en-US" b="1" dirty="0">
                <a:solidFill>
                  <a:srgbClr val="FF0000"/>
                </a:solidFill>
              </a:rPr>
              <a:t>Particulars and Project Information</a:t>
            </a:r>
          </a:p>
        </p:txBody>
      </p:sp>
      <p:sp>
        <p:nvSpPr>
          <p:cNvPr id="3" name="Subtitle 2">
            <a:extLst>
              <a:ext uri="{FF2B5EF4-FFF2-40B4-BE49-F238E27FC236}">
                <a16:creationId xmlns:a16="http://schemas.microsoft.com/office/drawing/2014/main" id="{97484E13-964F-7199-B08C-4704D08AAF60}"/>
              </a:ext>
            </a:extLst>
          </p:cNvPr>
          <p:cNvSpPr>
            <a:spLocks noGrp="1"/>
          </p:cNvSpPr>
          <p:nvPr>
            <p:ph type="subTitle" idx="1"/>
          </p:nvPr>
        </p:nvSpPr>
        <p:spPr>
          <a:xfrm>
            <a:off x="1524000" y="2640169"/>
            <a:ext cx="9144000" cy="2617631"/>
          </a:xfrm>
        </p:spPr>
        <p:txBody>
          <a:bodyPr>
            <a:normAutofit/>
          </a:bodyPr>
          <a:lstStyle/>
          <a:p>
            <a:pPr algn="l"/>
            <a:r>
              <a:rPr lang="en-US" dirty="0"/>
              <a:t>TITLE: SCHOOL MANAGEMENT INFORMATION SYSTEM(SMIS)</a:t>
            </a:r>
          </a:p>
          <a:p>
            <a:pPr algn="l"/>
            <a:endParaRPr lang="en-US" dirty="0"/>
          </a:p>
          <a:p>
            <a:pPr algn="l"/>
            <a:r>
              <a:rPr lang="en-US" dirty="0"/>
              <a:t>PROJECT TYPE: SOFTWARE DEVELOPMENT PROJECT	</a:t>
            </a:r>
          </a:p>
        </p:txBody>
      </p:sp>
      <p:sp>
        <p:nvSpPr>
          <p:cNvPr id="4" name="Footer Placeholder 3">
            <a:extLst>
              <a:ext uri="{FF2B5EF4-FFF2-40B4-BE49-F238E27FC236}">
                <a16:creationId xmlns:a16="http://schemas.microsoft.com/office/drawing/2014/main" id="{9CF0F5C4-3D62-8414-4EB9-99929F837761}"/>
              </a:ext>
            </a:extLst>
          </p:cNvPr>
          <p:cNvSpPr>
            <a:spLocks noGrp="1"/>
          </p:cNvSpPr>
          <p:nvPr>
            <p:ph type="ftr" sz="quarter" idx="11"/>
          </p:nvPr>
        </p:nvSpPr>
        <p:spPr/>
        <p:txBody>
          <a:bodyPr/>
          <a:lstStyle/>
          <a:p>
            <a:r>
              <a:rPr lang="en-US"/>
              <a:t>Department of computing and communication technology</a:t>
            </a:r>
          </a:p>
        </p:txBody>
      </p:sp>
    </p:spTree>
    <p:extLst>
      <p:ext uri="{BB962C8B-B14F-4D97-AF65-F5344CB8AC3E}">
        <p14:creationId xmlns:p14="http://schemas.microsoft.com/office/powerpoint/2010/main" val="4050836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3D3AA-63FB-CAC2-9C33-8E85AA82AB21}"/>
              </a:ext>
            </a:extLst>
          </p:cNvPr>
          <p:cNvSpPr>
            <a:spLocks noGrp="1"/>
          </p:cNvSpPr>
          <p:nvPr>
            <p:ph type="title"/>
          </p:nvPr>
        </p:nvSpPr>
        <p:spPr/>
        <p:txBody>
          <a:bodyPr/>
          <a:lstStyle/>
          <a:p>
            <a:r>
              <a:rPr lang="en-US" b="1" dirty="0">
                <a:solidFill>
                  <a:srgbClr val="FF0000"/>
                </a:solidFill>
              </a:rPr>
              <a:t>Background</a:t>
            </a:r>
          </a:p>
        </p:txBody>
      </p:sp>
      <p:sp>
        <p:nvSpPr>
          <p:cNvPr id="3" name="Content Placeholder 2">
            <a:extLst>
              <a:ext uri="{FF2B5EF4-FFF2-40B4-BE49-F238E27FC236}">
                <a16:creationId xmlns:a16="http://schemas.microsoft.com/office/drawing/2014/main" id="{D7616359-C5C3-F290-51DA-D5C39FAD4988}"/>
              </a:ext>
            </a:extLst>
          </p:cNvPr>
          <p:cNvSpPr>
            <a:spLocks noGrp="1"/>
          </p:cNvSpPr>
          <p:nvPr>
            <p:ph idx="1"/>
          </p:nvPr>
        </p:nvSpPr>
        <p:spPr/>
        <p:txBody>
          <a:bodyPr>
            <a:normAutofit lnSpcReduction="10000"/>
          </a:bodyPr>
          <a:lstStyle/>
          <a:p>
            <a:pPr algn="just"/>
            <a:r>
              <a:rPr lang="en-US" dirty="0"/>
              <a:t>Historically, schools have been hindered by "data silos" where student records, departmental information, and staff workloads are managed in isolation, leading to administrative bottlenecks and insecure communication. This project addresses these inefficiencies by centralizing the management of departments, lecturers, and courses, while introducing a sophisticated automation engine to solve the complex logistical challenge of timetable generation. By replacing manual scheduling with a constraint-based automated subsystem and providing an encrypted gateway for parental engagement, the platform transforms the school from a reactive environment into a proactive, data-driven organization that optimizes both administrative resources and student academic outcomes.</a:t>
            </a:r>
          </a:p>
        </p:txBody>
      </p:sp>
      <p:sp>
        <p:nvSpPr>
          <p:cNvPr id="4" name="Footer Placeholder 3">
            <a:extLst>
              <a:ext uri="{FF2B5EF4-FFF2-40B4-BE49-F238E27FC236}">
                <a16:creationId xmlns:a16="http://schemas.microsoft.com/office/drawing/2014/main" id="{A257B3D3-BF55-8D9C-8D0A-53E462657D82}"/>
              </a:ext>
            </a:extLst>
          </p:cNvPr>
          <p:cNvSpPr>
            <a:spLocks noGrp="1"/>
          </p:cNvSpPr>
          <p:nvPr>
            <p:ph type="ftr" sz="quarter" idx="11"/>
          </p:nvPr>
        </p:nvSpPr>
        <p:spPr/>
        <p:txBody>
          <a:bodyPr/>
          <a:lstStyle/>
          <a:p>
            <a:r>
              <a:rPr lang="en-US"/>
              <a:t>Department of computing and communication technology</a:t>
            </a:r>
          </a:p>
        </p:txBody>
      </p:sp>
    </p:spTree>
    <p:extLst>
      <p:ext uri="{BB962C8B-B14F-4D97-AF65-F5344CB8AC3E}">
        <p14:creationId xmlns:p14="http://schemas.microsoft.com/office/powerpoint/2010/main" val="4071818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93C3B-E184-47BF-DD21-417A7E0417A5}"/>
              </a:ext>
            </a:extLst>
          </p:cNvPr>
          <p:cNvSpPr>
            <a:spLocks noGrp="1"/>
          </p:cNvSpPr>
          <p:nvPr>
            <p:ph type="title"/>
          </p:nvPr>
        </p:nvSpPr>
        <p:spPr/>
        <p:txBody>
          <a:bodyPr/>
          <a:lstStyle/>
          <a:p>
            <a:r>
              <a:rPr lang="en-US" b="1" dirty="0">
                <a:solidFill>
                  <a:srgbClr val="FF0000"/>
                </a:solidFill>
              </a:rPr>
              <a:t>Problem Statement</a:t>
            </a:r>
          </a:p>
        </p:txBody>
      </p:sp>
      <p:sp>
        <p:nvSpPr>
          <p:cNvPr id="3" name="Content Placeholder 2">
            <a:extLst>
              <a:ext uri="{FF2B5EF4-FFF2-40B4-BE49-F238E27FC236}">
                <a16:creationId xmlns:a16="http://schemas.microsoft.com/office/drawing/2014/main" id="{63302D97-E0A5-DD2A-BEA7-C2530EA3405D}"/>
              </a:ext>
            </a:extLst>
          </p:cNvPr>
          <p:cNvSpPr>
            <a:spLocks noGrp="1"/>
          </p:cNvSpPr>
          <p:nvPr>
            <p:ph idx="1"/>
          </p:nvPr>
        </p:nvSpPr>
        <p:spPr/>
        <p:txBody>
          <a:bodyPr>
            <a:normAutofit lnSpcReduction="10000"/>
          </a:bodyPr>
          <a:lstStyle/>
          <a:p>
            <a:pPr algn="just"/>
            <a:r>
              <a:rPr lang="en-US" dirty="0"/>
              <a:t>Educational institutions currently struggle with "information silos" where departmental records, lecturer workloads, and student data are managed through fragmented physical files or isolated spreadsheets, leading to administrative errors and the logistical nightmare of manual, conflict-prone timetabling. Furthermore, communication with parents remains dangerously insecure and delayed, Also the issue of Timetable arrangement in done manually which can result to duplication of session to a single tutor. This project seeks to bridge these gaps by replacing inefficient, manual processes with an automated, encrypted, and intelligent ecosystem that optimizes resource scheduling and proactively identifies at-risk students through historical data analysis.</a:t>
            </a:r>
          </a:p>
        </p:txBody>
      </p:sp>
      <p:sp>
        <p:nvSpPr>
          <p:cNvPr id="4" name="Footer Placeholder 3">
            <a:extLst>
              <a:ext uri="{FF2B5EF4-FFF2-40B4-BE49-F238E27FC236}">
                <a16:creationId xmlns:a16="http://schemas.microsoft.com/office/drawing/2014/main" id="{6BCD7CE0-9AAA-C137-0E2B-6C5D5580895E}"/>
              </a:ext>
            </a:extLst>
          </p:cNvPr>
          <p:cNvSpPr>
            <a:spLocks noGrp="1"/>
          </p:cNvSpPr>
          <p:nvPr>
            <p:ph type="ftr" sz="quarter" idx="11"/>
          </p:nvPr>
        </p:nvSpPr>
        <p:spPr/>
        <p:txBody>
          <a:bodyPr/>
          <a:lstStyle/>
          <a:p>
            <a:r>
              <a:rPr lang="en-US"/>
              <a:t>Department of computing and communication technology</a:t>
            </a:r>
          </a:p>
        </p:txBody>
      </p:sp>
    </p:spTree>
    <p:extLst>
      <p:ext uri="{BB962C8B-B14F-4D97-AF65-F5344CB8AC3E}">
        <p14:creationId xmlns:p14="http://schemas.microsoft.com/office/powerpoint/2010/main" val="4122722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4C7B8-5819-63DF-A2CC-2A9790EF9573}"/>
              </a:ext>
            </a:extLst>
          </p:cNvPr>
          <p:cNvSpPr>
            <a:spLocks noGrp="1"/>
          </p:cNvSpPr>
          <p:nvPr>
            <p:ph type="title"/>
          </p:nvPr>
        </p:nvSpPr>
        <p:spPr/>
        <p:txBody>
          <a:bodyPr/>
          <a:lstStyle/>
          <a:p>
            <a:r>
              <a:rPr lang="en-US" b="1" dirty="0">
                <a:solidFill>
                  <a:srgbClr val="FF0000"/>
                </a:solidFill>
              </a:rPr>
              <a:t>Significance of the Project</a:t>
            </a:r>
          </a:p>
        </p:txBody>
      </p:sp>
      <p:sp>
        <p:nvSpPr>
          <p:cNvPr id="3" name="Content Placeholder 2">
            <a:extLst>
              <a:ext uri="{FF2B5EF4-FFF2-40B4-BE49-F238E27FC236}">
                <a16:creationId xmlns:a16="http://schemas.microsoft.com/office/drawing/2014/main" id="{7BE1B2F8-D8A5-7713-E6C7-6DA18AA443A9}"/>
              </a:ext>
            </a:extLst>
          </p:cNvPr>
          <p:cNvSpPr>
            <a:spLocks noGrp="1"/>
          </p:cNvSpPr>
          <p:nvPr>
            <p:ph idx="1"/>
          </p:nvPr>
        </p:nvSpPr>
        <p:spPr/>
        <p:txBody>
          <a:bodyPr>
            <a:normAutofit lnSpcReduction="10000"/>
          </a:bodyPr>
          <a:lstStyle/>
          <a:p>
            <a:pPr algn="just"/>
            <a:r>
              <a:rPr lang="en-US" dirty="0"/>
              <a:t>By integrating departmental management and automated scheduling, the platform eliminates the logistical complexity of manual timetabling, ensuring that lecturers and facilities are utilized at peak efficiency without scheduling conflicts. Beyond operational savings, the project bridges the critical communication gap through an encrypted parental portal, fostering a transparent home-school partnership that prioritizes student safety and engagement. Most importantly, the inclusion of predictive performance modeling shifts the academic focus from post-failure assessment to early intervention, providing educators with the data-driven foresight needed to secure better national exam results and long-term academic outcomes for every student.</a:t>
            </a:r>
          </a:p>
        </p:txBody>
      </p:sp>
      <p:sp>
        <p:nvSpPr>
          <p:cNvPr id="4" name="Footer Placeholder 3">
            <a:extLst>
              <a:ext uri="{FF2B5EF4-FFF2-40B4-BE49-F238E27FC236}">
                <a16:creationId xmlns:a16="http://schemas.microsoft.com/office/drawing/2014/main" id="{212AA0A2-E396-0AFB-FAAA-CF54971F88D7}"/>
              </a:ext>
            </a:extLst>
          </p:cNvPr>
          <p:cNvSpPr>
            <a:spLocks noGrp="1"/>
          </p:cNvSpPr>
          <p:nvPr>
            <p:ph type="ftr" sz="quarter" idx="11"/>
          </p:nvPr>
        </p:nvSpPr>
        <p:spPr/>
        <p:txBody>
          <a:bodyPr/>
          <a:lstStyle/>
          <a:p>
            <a:r>
              <a:rPr lang="en-US"/>
              <a:t>Department of computing and communication technology</a:t>
            </a:r>
          </a:p>
        </p:txBody>
      </p:sp>
    </p:spTree>
    <p:extLst>
      <p:ext uri="{BB962C8B-B14F-4D97-AF65-F5344CB8AC3E}">
        <p14:creationId xmlns:p14="http://schemas.microsoft.com/office/powerpoint/2010/main" val="2974985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1212F-8024-40AD-F767-2D246AC94653}"/>
              </a:ext>
            </a:extLst>
          </p:cNvPr>
          <p:cNvSpPr>
            <a:spLocks noGrp="1"/>
          </p:cNvSpPr>
          <p:nvPr>
            <p:ph type="title"/>
          </p:nvPr>
        </p:nvSpPr>
        <p:spPr/>
        <p:txBody>
          <a:bodyPr/>
          <a:lstStyle/>
          <a:p>
            <a:r>
              <a:rPr lang="en-US" b="1" dirty="0">
                <a:solidFill>
                  <a:srgbClr val="FF0000"/>
                </a:solidFill>
              </a:rPr>
              <a:t>Main Objective</a:t>
            </a:r>
          </a:p>
        </p:txBody>
      </p:sp>
      <p:sp>
        <p:nvSpPr>
          <p:cNvPr id="3" name="Content Placeholder 2">
            <a:extLst>
              <a:ext uri="{FF2B5EF4-FFF2-40B4-BE49-F238E27FC236}">
                <a16:creationId xmlns:a16="http://schemas.microsoft.com/office/drawing/2014/main" id="{BA4F6F12-2715-B091-BFBB-93310824A94A}"/>
              </a:ext>
            </a:extLst>
          </p:cNvPr>
          <p:cNvSpPr>
            <a:spLocks noGrp="1"/>
          </p:cNvSpPr>
          <p:nvPr>
            <p:ph idx="1"/>
          </p:nvPr>
        </p:nvSpPr>
        <p:spPr/>
        <p:txBody>
          <a:bodyPr/>
          <a:lstStyle/>
          <a:p>
            <a:pPr algn="just"/>
            <a:r>
              <a:rPr lang="en-US" dirty="0"/>
              <a:t>To design, develop and implement a unified digital ecosystem that centralizes school administrative operations and  to ensure parental participation in school issues for their children.</a:t>
            </a:r>
          </a:p>
        </p:txBody>
      </p:sp>
      <p:sp>
        <p:nvSpPr>
          <p:cNvPr id="4" name="Footer Placeholder 3">
            <a:extLst>
              <a:ext uri="{FF2B5EF4-FFF2-40B4-BE49-F238E27FC236}">
                <a16:creationId xmlns:a16="http://schemas.microsoft.com/office/drawing/2014/main" id="{30728E9B-4796-DAA9-7D8D-944368412E41}"/>
              </a:ext>
            </a:extLst>
          </p:cNvPr>
          <p:cNvSpPr>
            <a:spLocks noGrp="1"/>
          </p:cNvSpPr>
          <p:nvPr>
            <p:ph type="ftr" sz="quarter" idx="11"/>
          </p:nvPr>
        </p:nvSpPr>
        <p:spPr/>
        <p:txBody>
          <a:bodyPr/>
          <a:lstStyle/>
          <a:p>
            <a:r>
              <a:rPr lang="en-US"/>
              <a:t>Department of computing and communication technology</a:t>
            </a:r>
          </a:p>
        </p:txBody>
      </p:sp>
    </p:spTree>
    <p:extLst>
      <p:ext uri="{BB962C8B-B14F-4D97-AF65-F5344CB8AC3E}">
        <p14:creationId xmlns:p14="http://schemas.microsoft.com/office/powerpoint/2010/main" val="2767118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3C581-8940-C40B-A777-777502C1B98B}"/>
              </a:ext>
            </a:extLst>
          </p:cNvPr>
          <p:cNvSpPr>
            <a:spLocks noGrp="1"/>
          </p:cNvSpPr>
          <p:nvPr>
            <p:ph type="title"/>
          </p:nvPr>
        </p:nvSpPr>
        <p:spPr/>
        <p:txBody>
          <a:bodyPr/>
          <a:lstStyle/>
          <a:p>
            <a:r>
              <a:rPr lang="en-US" b="1" dirty="0">
                <a:solidFill>
                  <a:srgbClr val="FF0000"/>
                </a:solidFill>
              </a:rPr>
              <a:t>Specific Objectives</a:t>
            </a:r>
          </a:p>
        </p:txBody>
      </p:sp>
      <p:sp>
        <p:nvSpPr>
          <p:cNvPr id="3" name="Content Placeholder 2">
            <a:extLst>
              <a:ext uri="{FF2B5EF4-FFF2-40B4-BE49-F238E27FC236}">
                <a16:creationId xmlns:a16="http://schemas.microsoft.com/office/drawing/2014/main" id="{1603E77F-04D0-3E63-D26C-DBEFDDB7D037}"/>
              </a:ext>
            </a:extLst>
          </p:cNvPr>
          <p:cNvSpPr>
            <a:spLocks noGrp="1"/>
          </p:cNvSpPr>
          <p:nvPr>
            <p:ph idx="1"/>
          </p:nvPr>
        </p:nvSpPr>
        <p:spPr/>
        <p:txBody>
          <a:bodyPr>
            <a:normAutofit fontScale="77500" lnSpcReduction="20000"/>
          </a:bodyPr>
          <a:lstStyle/>
          <a:p>
            <a:pPr algn="just"/>
            <a:r>
              <a:rPr lang="en-US" dirty="0"/>
              <a:t>To develop a centralized administrative  ecosystem that automates core tasks such as student record keeping and attendance tracking, while providing school leadership with a real-time analytics dashboard to monitor staff workloads, institution performance and facility utilization.</a:t>
            </a:r>
          </a:p>
          <a:p>
            <a:pPr algn="just"/>
            <a:r>
              <a:rPr lang="en-US" dirty="0"/>
              <a:t>To engineer a secure messaging and notification module that utilizes end-to-end encryption for transparent and private parent-teacher communication.</a:t>
            </a:r>
          </a:p>
          <a:p>
            <a:pPr algn="just"/>
            <a:r>
              <a:rPr lang="en-US" dirty="0"/>
              <a:t>To develop a system to provide parents with a dedicated mobile portal for real-time access student attendance, assignments, fee payment and other school announcements.</a:t>
            </a:r>
          </a:p>
          <a:p>
            <a:pPr algn="just"/>
            <a:r>
              <a:rPr lang="en-US" dirty="0"/>
              <a:t>To develop an automated timetable generation subsystem that utilizes constraint-satisfaction algorithms to produce conflict-free schedules based on teacher availability.</a:t>
            </a:r>
          </a:p>
          <a:p>
            <a:pPr algn="just"/>
            <a:r>
              <a:rPr lang="en-US" dirty="0"/>
              <a:t>To implement a Role-Based Access Control mechanism that defines specific permissions for Administrators. Teachers(basing on their position), non-teaching staffs and Parents to ensure data security and functional focus </a:t>
            </a:r>
          </a:p>
        </p:txBody>
      </p:sp>
      <p:sp>
        <p:nvSpPr>
          <p:cNvPr id="4" name="Footer Placeholder 3">
            <a:extLst>
              <a:ext uri="{FF2B5EF4-FFF2-40B4-BE49-F238E27FC236}">
                <a16:creationId xmlns:a16="http://schemas.microsoft.com/office/drawing/2014/main" id="{B67692EA-BBB3-0ADF-BD05-925F7D13B544}"/>
              </a:ext>
            </a:extLst>
          </p:cNvPr>
          <p:cNvSpPr>
            <a:spLocks noGrp="1"/>
          </p:cNvSpPr>
          <p:nvPr>
            <p:ph type="ftr" sz="quarter" idx="11"/>
          </p:nvPr>
        </p:nvSpPr>
        <p:spPr/>
        <p:txBody>
          <a:bodyPr/>
          <a:lstStyle/>
          <a:p>
            <a:r>
              <a:rPr lang="en-US"/>
              <a:t>Department of computing and communication technology</a:t>
            </a:r>
          </a:p>
        </p:txBody>
      </p:sp>
    </p:spTree>
    <p:extLst>
      <p:ext uri="{BB962C8B-B14F-4D97-AF65-F5344CB8AC3E}">
        <p14:creationId xmlns:p14="http://schemas.microsoft.com/office/powerpoint/2010/main" val="2058156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B60B5-A0F9-CE38-7F84-F3311544089F}"/>
              </a:ext>
            </a:extLst>
          </p:cNvPr>
          <p:cNvSpPr>
            <a:spLocks noGrp="1"/>
          </p:cNvSpPr>
          <p:nvPr>
            <p:ph type="title"/>
          </p:nvPr>
        </p:nvSpPr>
        <p:spPr/>
        <p:txBody>
          <a:bodyPr/>
          <a:lstStyle/>
          <a:p>
            <a:r>
              <a:rPr lang="en-US" b="1" dirty="0">
                <a:solidFill>
                  <a:srgbClr val="FF0000"/>
                </a:solidFill>
              </a:rPr>
              <a:t>Scope of the Project</a:t>
            </a:r>
          </a:p>
        </p:txBody>
      </p:sp>
      <p:sp>
        <p:nvSpPr>
          <p:cNvPr id="3" name="Content Placeholder 2">
            <a:extLst>
              <a:ext uri="{FF2B5EF4-FFF2-40B4-BE49-F238E27FC236}">
                <a16:creationId xmlns:a16="http://schemas.microsoft.com/office/drawing/2014/main" id="{FCD8E2AD-9371-35ED-B643-B199ACF6AD9B}"/>
              </a:ext>
            </a:extLst>
          </p:cNvPr>
          <p:cNvSpPr>
            <a:spLocks noGrp="1"/>
          </p:cNvSpPr>
          <p:nvPr>
            <p:ph idx="1"/>
          </p:nvPr>
        </p:nvSpPr>
        <p:spPr/>
        <p:txBody>
          <a:bodyPr>
            <a:normAutofit/>
          </a:bodyPr>
          <a:lstStyle/>
          <a:p>
            <a:pPr algn="just"/>
            <a:r>
              <a:rPr lang="en-US" dirty="0"/>
              <a:t>The project will focus on the development of a dual-platform digital ecosystem comprising a comprehensive web-based administrative dashboard and a secure mobile portal for parents. Internally, the system is bounded by the creation of robust subsystems to manage departmental hierarchies, staff workloads and course mapping, alongside a specialized engine designed to automatically generate conflict-free timetables based on pre-defined technical constraints. The academic scope includes real-time attendance tracking, gradebook management, and a high-level analytics dashboard for leadership, while the communicative scope is focused on an encrypted gateway for instant parental notifications and messaging.</a:t>
            </a:r>
          </a:p>
        </p:txBody>
      </p:sp>
      <p:sp>
        <p:nvSpPr>
          <p:cNvPr id="4" name="Footer Placeholder 3">
            <a:extLst>
              <a:ext uri="{FF2B5EF4-FFF2-40B4-BE49-F238E27FC236}">
                <a16:creationId xmlns:a16="http://schemas.microsoft.com/office/drawing/2014/main" id="{D373C0E7-BD94-B1FC-2D08-A63E4B7BDE97}"/>
              </a:ext>
            </a:extLst>
          </p:cNvPr>
          <p:cNvSpPr>
            <a:spLocks noGrp="1"/>
          </p:cNvSpPr>
          <p:nvPr>
            <p:ph type="ftr" sz="quarter" idx="11"/>
          </p:nvPr>
        </p:nvSpPr>
        <p:spPr/>
        <p:txBody>
          <a:bodyPr/>
          <a:lstStyle/>
          <a:p>
            <a:r>
              <a:rPr lang="en-US"/>
              <a:t>Department of computing and communication technology</a:t>
            </a:r>
          </a:p>
        </p:txBody>
      </p:sp>
    </p:spTree>
    <p:extLst>
      <p:ext uri="{BB962C8B-B14F-4D97-AF65-F5344CB8AC3E}">
        <p14:creationId xmlns:p14="http://schemas.microsoft.com/office/powerpoint/2010/main" val="312450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99911-4A99-E966-3695-943D609D9CAD}"/>
              </a:ext>
            </a:extLst>
          </p:cNvPr>
          <p:cNvSpPr>
            <a:spLocks noGrp="1"/>
          </p:cNvSpPr>
          <p:nvPr>
            <p:ph type="title"/>
          </p:nvPr>
        </p:nvSpPr>
        <p:spPr/>
        <p:txBody>
          <a:bodyPr/>
          <a:lstStyle/>
          <a:p>
            <a:r>
              <a:rPr lang="en-US" b="1" dirty="0">
                <a:solidFill>
                  <a:srgbClr val="FF0000"/>
                </a:solidFill>
              </a:rPr>
              <a:t>Introduction to the Literature Review </a:t>
            </a:r>
            <a:endParaRPr lang="en-US" dirty="0">
              <a:solidFill>
                <a:srgbClr val="FF0000"/>
              </a:solidFill>
            </a:endParaRPr>
          </a:p>
        </p:txBody>
      </p:sp>
      <p:sp>
        <p:nvSpPr>
          <p:cNvPr id="3" name="Content Placeholder 2">
            <a:extLst>
              <a:ext uri="{FF2B5EF4-FFF2-40B4-BE49-F238E27FC236}">
                <a16:creationId xmlns:a16="http://schemas.microsoft.com/office/drawing/2014/main" id="{653C8345-F9C8-478C-306A-431A0EBF751F}"/>
              </a:ext>
            </a:extLst>
          </p:cNvPr>
          <p:cNvSpPr>
            <a:spLocks noGrp="1"/>
          </p:cNvSpPr>
          <p:nvPr>
            <p:ph idx="1"/>
          </p:nvPr>
        </p:nvSpPr>
        <p:spPr/>
        <p:txBody>
          <a:bodyPr>
            <a:normAutofit fontScale="92500" lnSpcReduction="10000"/>
          </a:bodyPr>
          <a:lstStyle/>
          <a:p>
            <a:pPr algn="just"/>
            <a:r>
              <a:rPr lang="en-US" dirty="0"/>
              <a:t>Several studies and systems have been developed to manage school operations such as student registration, attendance tracking, fee management, and academic record keeping. Systems like </a:t>
            </a:r>
            <a:r>
              <a:rPr lang="en-US" b="1" dirty="0" err="1"/>
              <a:t>ShuleSoft</a:t>
            </a:r>
            <a:r>
              <a:rPr lang="en-US" dirty="0"/>
              <a:t> and </a:t>
            </a:r>
            <a:r>
              <a:rPr lang="en-US" b="1" dirty="0" err="1"/>
              <a:t>InfoTaaluma</a:t>
            </a:r>
            <a:r>
              <a:rPr lang="en-US" dirty="0"/>
              <a:t> have paved the way in the Tanzanian context by digitizing school management and enhancing parental involvement through real-time notifications via SMS and mobile applications. While these existing systems effectively reduce manual work and improve data accuracy, they primarily function as administrative tracking tools with limited capabilities in advanced logistical optimization. This literature review discusses existing systems related to school management and identifies critical gaps—specifically the need for fully automated, constraint-based timetable generation and more robustly integrated departmental resource management—that this project aims to address.</a:t>
            </a:r>
          </a:p>
        </p:txBody>
      </p:sp>
      <p:sp>
        <p:nvSpPr>
          <p:cNvPr id="4" name="Footer Placeholder 3">
            <a:extLst>
              <a:ext uri="{FF2B5EF4-FFF2-40B4-BE49-F238E27FC236}">
                <a16:creationId xmlns:a16="http://schemas.microsoft.com/office/drawing/2014/main" id="{7CB5C2A4-F732-5448-77CE-4FD706E1EA67}"/>
              </a:ext>
            </a:extLst>
          </p:cNvPr>
          <p:cNvSpPr>
            <a:spLocks noGrp="1"/>
          </p:cNvSpPr>
          <p:nvPr>
            <p:ph type="ftr" sz="quarter" idx="11"/>
          </p:nvPr>
        </p:nvSpPr>
        <p:spPr/>
        <p:txBody>
          <a:bodyPr/>
          <a:lstStyle/>
          <a:p>
            <a:r>
              <a:rPr lang="en-US"/>
              <a:t>Department of computing and communication technology</a:t>
            </a:r>
          </a:p>
        </p:txBody>
      </p:sp>
    </p:spTree>
    <p:extLst>
      <p:ext uri="{BB962C8B-B14F-4D97-AF65-F5344CB8AC3E}">
        <p14:creationId xmlns:p14="http://schemas.microsoft.com/office/powerpoint/2010/main" val="3354826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0A7F-F46D-10BD-C138-5D5CCF39E30B}"/>
              </a:ext>
            </a:extLst>
          </p:cNvPr>
          <p:cNvSpPr>
            <a:spLocks noGrp="1"/>
          </p:cNvSpPr>
          <p:nvPr>
            <p:ph type="title"/>
          </p:nvPr>
        </p:nvSpPr>
        <p:spPr/>
        <p:txBody>
          <a:bodyPr/>
          <a:lstStyle/>
          <a:p>
            <a:r>
              <a:rPr lang="en-US" b="1" dirty="0">
                <a:solidFill>
                  <a:srgbClr val="FF0000"/>
                </a:solidFill>
              </a:rPr>
              <a:t>Review of Existing Studies and Systems </a:t>
            </a:r>
            <a:endParaRPr lang="en-US" dirty="0">
              <a:solidFill>
                <a:srgbClr val="FF0000"/>
              </a:solidFill>
            </a:endParaRPr>
          </a:p>
        </p:txBody>
      </p:sp>
      <p:sp>
        <p:nvSpPr>
          <p:cNvPr id="3" name="Content Placeholder 2">
            <a:extLst>
              <a:ext uri="{FF2B5EF4-FFF2-40B4-BE49-F238E27FC236}">
                <a16:creationId xmlns:a16="http://schemas.microsoft.com/office/drawing/2014/main" id="{8C45C631-005A-0600-D1D9-A8FCA5E7DC80}"/>
              </a:ext>
            </a:extLst>
          </p:cNvPr>
          <p:cNvSpPr>
            <a:spLocks noGrp="1"/>
          </p:cNvSpPr>
          <p:nvPr>
            <p:ph idx="1"/>
          </p:nvPr>
        </p:nvSpPr>
        <p:spPr/>
        <p:txBody>
          <a:bodyPr>
            <a:normAutofit fontScale="85000" lnSpcReduction="20000"/>
          </a:bodyPr>
          <a:lstStyle/>
          <a:p>
            <a:pPr algn="just"/>
            <a:r>
              <a:rPr lang="en-US" b="1" dirty="0" err="1"/>
              <a:t>ShuleSoft</a:t>
            </a:r>
            <a:r>
              <a:rPr lang="en-US" b="1" dirty="0"/>
              <a:t> (2024)</a:t>
            </a:r>
            <a:r>
              <a:rPr lang="en-US" dirty="0"/>
              <a:t> developed a comprehensive school management ecosystem to streamline critical institutional operations including student registration, fee management via local payment gateways, and academic reporting. Their system provides real-time access to student data and has significantly improved transparency between schools and parents through a dedicated mobile application. This platform highlights that integrating local financial services with school administration can enhance the efficiency of fee collection and administrative accountability compared to traditional paper-based methods.</a:t>
            </a:r>
          </a:p>
          <a:p>
            <a:pPr algn="just"/>
            <a:r>
              <a:rPr lang="en-US" dirty="0"/>
              <a:t>Similarly, </a:t>
            </a:r>
            <a:r>
              <a:rPr lang="en-US" b="1" dirty="0" err="1"/>
              <a:t>InfoTaaluma</a:t>
            </a:r>
            <a:r>
              <a:rPr lang="en-US" b="1" dirty="0"/>
              <a:t> (2023)</a:t>
            </a:r>
            <a:r>
              <a:rPr lang="en-US" dirty="0"/>
              <a:t> presented a cloud-based school management platform that shifted academic record keeping and attendance tracking from manual logs to a digital environment. Their system helped administrators access student performance records easily, reduced manual workloads for teachers, and improved the reliability of school-to-parent communication through automated SMS and push notifications. Their work demonstrates that digital systems are essential for maintaining a secure and consistent flow of information between the school and home.</a:t>
            </a:r>
          </a:p>
          <a:p>
            <a:pPr marL="0" indent="0" algn="just">
              <a:buNone/>
            </a:pPr>
            <a:endParaRPr lang="en-US" dirty="0"/>
          </a:p>
          <a:p>
            <a:pPr algn="just"/>
            <a:endParaRPr lang="en-US" dirty="0"/>
          </a:p>
        </p:txBody>
      </p:sp>
      <p:sp>
        <p:nvSpPr>
          <p:cNvPr id="4" name="Footer Placeholder 3">
            <a:extLst>
              <a:ext uri="{FF2B5EF4-FFF2-40B4-BE49-F238E27FC236}">
                <a16:creationId xmlns:a16="http://schemas.microsoft.com/office/drawing/2014/main" id="{CF5D1E8B-E69E-A434-A0B5-2D7CAA2833D9}"/>
              </a:ext>
            </a:extLst>
          </p:cNvPr>
          <p:cNvSpPr>
            <a:spLocks noGrp="1"/>
          </p:cNvSpPr>
          <p:nvPr>
            <p:ph type="ftr" sz="quarter" idx="11"/>
          </p:nvPr>
        </p:nvSpPr>
        <p:spPr/>
        <p:txBody>
          <a:bodyPr/>
          <a:lstStyle/>
          <a:p>
            <a:r>
              <a:rPr lang="en-US"/>
              <a:t>Department of computing and communication technology</a:t>
            </a:r>
          </a:p>
        </p:txBody>
      </p:sp>
    </p:spTree>
    <p:extLst>
      <p:ext uri="{BB962C8B-B14F-4D97-AF65-F5344CB8AC3E}">
        <p14:creationId xmlns:p14="http://schemas.microsoft.com/office/powerpoint/2010/main" val="3768385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F8A8D-434D-98A7-D4C3-8552A1385034}"/>
              </a:ext>
            </a:extLst>
          </p:cNvPr>
          <p:cNvSpPr>
            <a:spLocks noGrp="1"/>
          </p:cNvSpPr>
          <p:nvPr>
            <p:ph type="title"/>
          </p:nvPr>
        </p:nvSpPr>
        <p:spPr/>
        <p:txBody>
          <a:bodyPr/>
          <a:lstStyle/>
          <a:p>
            <a:r>
              <a:rPr lang="en-US" b="1" dirty="0">
                <a:solidFill>
                  <a:srgbClr val="FF0000"/>
                </a:solidFill>
              </a:rPr>
              <a:t>Identified Gaps in Existing Systems </a:t>
            </a:r>
            <a:endParaRPr lang="en-US" dirty="0">
              <a:solidFill>
                <a:srgbClr val="FF0000"/>
              </a:solidFill>
            </a:endParaRPr>
          </a:p>
        </p:txBody>
      </p:sp>
      <p:sp>
        <p:nvSpPr>
          <p:cNvPr id="3" name="Content Placeholder 2">
            <a:extLst>
              <a:ext uri="{FF2B5EF4-FFF2-40B4-BE49-F238E27FC236}">
                <a16:creationId xmlns:a16="http://schemas.microsoft.com/office/drawing/2014/main" id="{7D1EE611-6D74-5041-025C-F113DC119C96}"/>
              </a:ext>
            </a:extLst>
          </p:cNvPr>
          <p:cNvSpPr>
            <a:spLocks noGrp="1"/>
          </p:cNvSpPr>
          <p:nvPr>
            <p:ph idx="1"/>
          </p:nvPr>
        </p:nvSpPr>
        <p:spPr/>
        <p:txBody>
          <a:bodyPr/>
          <a:lstStyle/>
          <a:p>
            <a:pPr algn="just"/>
            <a:r>
              <a:rPr lang="en-US" dirty="0"/>
              <a:t>From the reviewed literature, it is evident that many existing school management systems focus mainly on basic record keeping and administrative tracking. However, most systems lack:</a:t>
            </a:r>
          </a:p>
          <a:p>
            <a:pPr lvl="1" algn="just"/>
            <a:r>
              <a:rPr lang="en-US" b="1" dirty="0"/>
              <a:t>Automated Constraint-Based Scheduling:</a:t>
            </a:r>
            <a:r>
              <a:rPr lang="en-US" dirty="0"/>
              <a:t> While many platforms allow for manual timetable entry, they lack an intelligent engine to autonomously resolve conflicts of teachers' availability.</a:t>
            </a:r>
          </a:p>
          <a:p>
            <a:pPr lvl="1" algn="just"/>
            <a:r>
              <a:rPr lang="en-US" b="1" dirty="0"/>
              <a:t>Integrated Departmental Resource Mapping:</a:t>
            </a:r>
            <a:r>
              <a:rPr lang="en-US" dirty="0"/>
              <a:t> Existing systems often treat departments as simple labels rather than active management units that track specific teacher workloads, specializations, and subject allocations in a unified way.</a:t>
            </a:r>
          </a:p>
        </p:txBody>
      </p:sp>
      <p:sp>
        <p:nvSpPr>
          <p:cNvPr id="5" name="Footer Placeholder 4">
            <a:extLst>
              <a:ext uri="{FF2B5EF4-FFF2-40B4-BE49-F238E27FC236}">
                <a16:creationId xmlns:a16="http://schemas.microsoft.com/office/drawing/2014/main" id="{71B9E5D0-A3B4-5939-C2EC-D53843F69A3C}"/>
              </a:ext>
            </a:extLst>
          </p:cNvPr>
          <p:cNvSpPr>
            <a:spLocks noGrp="1"/>
          </p:cNvSpPr>
          <p:nvPr>
            <p:ph type="ftr" sz="quarter" idx="11"/>
          </p:nvPr>
        </p:nvSpPr>
        <p:spPr/>
        <p:txBody>
          <a:bodyPr/>
          <a:lstStyle/>
          <a:p>
            <a:r>
              <a:rPr lang="en-US"/>
              <a:t>Department of computing and communication technology</a:t>
            </a:r>
          </a:p>
        </p:txBody>
      </p:sp>
    </p:spTree>
    <p:extLst>
      <p:ext uri="{BB962C8B-B14F-4D97-AF65-F5344CB8AC3E}">
        <p14:creationId xmlns:p14="http://schemas.microsoft.com/office/powerpoint/2010/main" val="3773922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E9CA0-4CA4-4A7D-6697-CF3C0F9B1F61}"/>
              </a:ext>
            </a:extLst>
          </p:cNvPr>
          <p:cNvSpPr>
            <a:spLocks noGrp="1"/>
          </p:cNvSpPr>
          <p:nvPr>
            <p:ph type="title"/>
          </p:nvPr>
        </p:nvSpPr>
        <p:spPr/>
        <p:txBody>
          <a:bodyPr/>
          <a:lstStyle/>
          <a:p>
            <a:r>
              <a:rPr lang="en-US" b="1" dirty="0">
                <a:solidFill>
                  <a:srgbClr val="FF0000"/>
                </a:solidFill>
              </a:rPr>
              <a:t>Relation to the Proposed System</a:t>
            </a:r>
            <a:endParaRPr lang="en-US" dirty="0">
              <a:solidFill>
                <a:srgbClr val="FF0000"/>
              </a:solidFill>
            </a:endParaRPr>
          </a:p>
        </p:txBody>
      </p:sp>
      <p:sp>
        <p:nvSpPr>
          <p:cNvPr id="3" name="Content Placeholder 2">
            <a:extLst>
              <a:ext uri="{FF2B5EF4-FFF2-40B4-BE49-F238E27FC236}">
                <a16:creationId xmlns:a16="http://schemas.microsoft.com/office/drawing/2014/main" id="{9D2DAB40-7B10-8933-136C-80A16F009EDB}"/>
              </a:ext>
            </a:extLst>
          </p:cNvPr>
          <p:cNvSpPr>
            <a:spLocks noGrp="1"/>
          </p:cNvSpPr>
          <p:nvPr>
            <p:ph idx="1"/>
          </p:nvPr>
        </p:nvSpPr>
        <p:spPr/>
        <p:txBody>
          <a:bodyPr>
            <a:normAutofit fontScale="92500" lnSpcReduction="10000"/>
          </a:bodyPr>
          <a:lstStyle/>
          <a:p>
            <a:pPr algn="just"/>
            <a:r>
              <a:rPr lang="en-US" dirty="0"/>
              <a:t>The proposed </a:t>
            </a:r>
            <a:r>
              <a:rPr lang="en-US" b="1" dirty="0"/>
              <a:t>Integrated School Administration Platform and Secure Parental Communication</a:t>
            </a:r>
            <a:r>
              <a:rPr lang="en-US" dirty="0"/>
              <a:t> system adopts the proven administrative frameworks seen in systems like </a:t>
            </a:r>
            <a:r>
              <a:rPr lang="en-US" b="1" dirty="0" err="1"/>
              <a:t>ShuleSoft</a:t>
            </a:r>
            <a:r>
              <a:rPr lang="en-US" dirty="0"/>
              <a:t> and </a:t>
            </a:r>
            <a:r>
              <a:rPr lang="en-US" b="1" dirty="0" err="1"/>
              <a:t>InfoTaaluma</a:t>
            </a:r>
            <a:r>
              <a:rPr lang="en-US" dirty="0"/>
              <a:t>, but extends their utility by shifting from simple data storage to active operational intelligence. While the reviewed literature establishes the success of digital record-keeping in reducing paper waste and improving data accuracy, this project uses those records as the "input layer" for its </a:t>
            </a:r>
            <a:r>
              <a:rPr lang="en-US" b="1" dirty="0"/>
              <a:t>Automated Timetable Generation Subsystem</a:t>
            </a:r>
            <a:r>
              <a:rPr lang="en-US" dirty="0"/>
              <a:t>.</a:t>
            </a:r>
          </a:p>
          <a:p>
            <a:pPr algn="just"/>
            <a:r>
              <a:rPr lang="en-US" dirty="0"/>
              <a:t>In essence, the proposed system stands as a </a:t>
            </a:r>
            <a:r>
              <a:rPr lang="en-US" b="1" dirty="0"/>
              <a:t>hybridized ecosystem</a:t>
            </a:r>
            <a:r>
              <a:rPr lang="en-US" dirty="0"/>
              <a:t>; it utilizes the centralized database model of the reviewed literature but applies a logic layer to solve the specific administrative bottlenecks—scheduling and secure communication—that currently remain as manual burdens in the Tanzanian educational sector.</a:t>
            </a:r>
          </a:p>
        </p:txBody>
      </p:sp>
      <p:sp>
        <p:nvSpPr>
          <p:cNvPr id="4" name="Footer Placeholder 3">
            <a:extLst>
              <a:ext uri="{FF2B5EF4-FFF2-40B4-BE49-F238E27FC236}">
                <a16:creationId xmlns:a16="http://schemas.microsoft.com/office/drawing/2014/main" id="{D89AAF4F-7B1A-DDFF-B6DD-58CB7754E341}"/>
              </a:ext>
            </a:extLst>
          </p:cNvPr>
          <p:cNvSpPr>
            <a:spLocks noGrp="1"/>
          </p:cNvSpPr>
          <p:nvPr>
            <p:ph type="ftr" sz="quarter" idx="11"/>
          </p:nvPr>
        </p:nvSpPr>
        <p:spPr/>
        <p:txBody>
          <a:bodyPr/>
          <a:lstStyle/>
          <a:p>
            <a:r>
              <a:rPr lang="en-US"/>
              <a:t>Department of computing and communication technology</a:t>
            </a:r>
          </a:p>
        </p:txBody>
      </p:sp>
    </p:spTree>
    <p:extLst>
      <p:ext uri="{BB962C8B-B14F-4D97-AF65-F5344CB8AC3E}">
        <p14:creationId xmlns:p14="http://schemas.microsoft.com/office/powerpoint/2010/main" val="390647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CADB1-56E8-B971-11B3-F07BE5294709}"/>
              </a:ext>
            </a:extLst>
          </p:cNvPr>
          <p:cNvSpPr>
            <a:spLocks noGrp="1"/>
          </p:cNvSpPr>
          <p:nvPr>
            <p:ph type="title"/>
          </p:nvPr>
        </p:nvSpPr>
        <p:spPr/>
        <p:txBody>
          <a:bodyPr/>
          <a:lstStyle/>
          <a:p>
            <a:pPr algn="ctr"/>
            <a:r>
              <a:rPr lang="en-US" b="1" dirty="0">
                <a:solidFill>
                  <a:srgbClr val="FF0000"/>
                </a:solidFill>
              </a:rPr>
              <a:t>USE CASE DIAGRAM</a:t>
            </a:r>
          </a:p>
        </p:txBody>
      </p:sp>
      <p:pic>
        <p:nvPicPr>
          <p:cNvPr id="6" name="Content Placeholder 5">
            <a:extLst>
              <a:ext uri="{FF2B5EF4-FFF2-40B4-BE49-F238E27FC236}">
                <a16:creationId xmlns:a16="http://schemas.microsoft.com/office/drawing/2014/main" id="{3EDB77B8-4DFD-3F71-AF28-04C2E3DA536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8943" y="1338943"/>
            <a:ext cx="9503228" cy="4838020"/>
          </a:xfrm>
          <a:prstGeom prst="rect">
            <a:avLst/>
          </a:prstGeom>
        </p:spPr>
      </p:pic>
      <p:sp>
        <p:nvSpPr>
          <p:cNvPr id="4" name="Footer Placeholder 3">
            <a:extLst>
              <a:ext uri="{FF2B5EF4-FFF2-40B4-BE49-F238E27FC236}">
                <a16:creationId xmlns:a16="http://schemas.microsoft.com/office/drawing/2014/main" id="{5024B0DD-F920-361D-A8A2-4781BCD66B3B}"/>
              </a:ext>
            </a:extLst>
          </p:cNvPr>
          <p:cNvSpPr>
            <a:spLocks noGrp="1"/>
          </p:cNvSpPr>
          <p:nvPr>
            <p:ph type="ftr" sz="quarter" idx="11"/>
          </p:nvPr>
        </p:nvSpPr>
        <p:spPr/>
        <p:txBody>
          <a:bodyPr/>
          <a:lstStyle/>
          <a:p>
            <a:r>
              <a:rPr lang="en-US"/>
              <a:t>Department of computing and communication technology</a:t>
            </a:r>
          </a:p>
        </p:txBody>
      </p:sp>
    </p:spTree>
    <p:extLst>
      <p:ext uri="{BB962C8B-B14F-4D97-AF65-F5344CB8AC3E}">
        <p14:creationId xmlns:p14="http://schemas.microsoft.com/office/powerpoint/2010/main" val="1484772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CFFBD-FCD5-7730-1A5A-3884003A4936}"/>
              </a:ext>
            </a:extLst>
          </p:cNvPr>
          <p:cNvSpPr>
            <a:spLocks noGrp="1"/>
          </p:cNvSpPr>
          <p:nvPr>
            <p:ph type="title"/>
          </p:nvPr>
        </p:nvSpPr>
        <p:spPr/>
        <p:txBody>
          <a:bodyPr/>
          <a:lstStyle/>
          <a:p>
            <a:pPr algn="ctr"/>
            <a:r>
              <a:rPr lang="en-US" b="1" dirty="0">
                <a:solidFill>
                  <a:srgbClr val="FF0000"/>
                </a:solidFill>
              </a:rPr>
              <a:t>FLOW CHART DIAGRAM</a:t>
            </a:r>
          </a:p>
        </p:txBody>
      </p:sp>
      <p:pic>
        <p:nvPicPr>
          <p:cNvPr id="6" name="Content Placeholder 5">
            <a:extLst>
              <a:ext uri="{FF2B5EF4-FFF2-40B4-BE49-F238E27FC236}">
                <a16:creationId xmlns:a16="http://schemas.microsoft.com/office/drawing/2014/main" id="{50C3A405-F866-7A23-F8DB-F0E749C508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73221"/>
            <a:ext cx="11125200" cy="4520750"/>
          </a:xfrm>
          <a:prstGeom prst="rect">
            <a:avLst/>
          </a:prstGeom>
        </p:spPr>
      </p:pic>
      <p:sp>
        <p:nvSpPr>
          <p:cNvPr id="4" name="Footer Placeholder 3">
            <a:extLst>
              <a:ext uri="{FF2B5EF4-FFF2-40B4-BE49-F238E27FC236}">
                <a16:creationId xmlns:a16="http://schemas.microsoft.com/office/drawing/2014/main" id="{E9AAF593-7254-26A7-4ACD-8EAE005CD005}"/>
              </a:ext>
            </a:extLst>
          </p:cNvPr>
          <p:cNvSpPr>
            <a:spLocks noGrp="1"/>
          </p:cNvSpPr>
          <p:nvPr>
            <p:ph type="ftr" sz="quarter" idx="11"/>
          </p:nvPr>
        </p:nvSpPr>
        <p:spPr/>
        <p:txBody>
          <a:bodyPr/>
          <a:lstStyle/>
          <a:p>
            <a:r>
              <a:rPr lang="en-US"/>
              <a:t>Department of computing and communication technology</a:t>
            </a:r>
          </a:p>
        </p:txBody>
      </p:sp>
    </p:spTree>
    <p:extLst>
      <p:ext uri="{BB962C8B-B14F-4D97-AF65-F5344CB8AC3E}">
        <p14:creationId xmlns:p14="http://schemas.microsoft.com/office/powerpoint/2010/main" val="27441777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4993E-C24F-D157-C150-2C076FC76DD5}"/>
              </a:ext>
            </a:extLst>
          </p:cNvPr>
          <p:cNvSpPr>
            <a:spLocks noGrp="1"/>
          </p:cNvSpPr>
          <p:nvPr>
            <p:ph type="title"/>
          </p:nvPr>
        </p:nvSpPr>
        <p:spPr/>
        <p:txBody>
          <a:bodyPr/>
          <a:lstStyle/>
          <a:p>
            <a:r>
              <a:rPr lang="en-US" b="1" dirty="0">
                <a:solidFill>
                  <a:srgbClr val="FF0000"/>
                </a:solidFill>
              </a:rPr>
              <a:t>References</a:t>
            </a:r>
            <a:endParaRPr lang="en-US" dirty="0">
              <a:solidFill>
                <a:srgbClr val="FF0000"/>
              </a:solidFill>
            </a:endParaRPr>
          </a:p>
        </p:txBody>
      </p:sp>
      <p:sp>
        <p:nvSpPr>
          <p:cNvPr id="3" name="Content Placeholder 2">
            <a:extLst>
              <a:ext uri="{FF2B5EF4-FFF2-40B4-BE49-F238E27FC236}">
                <a16:creationId xmlns:a16="http://schemas.microsoft.com/office/drawing/2014/main" id="{2EAEFB19-6395-C8D5-72B8-B4AE21302FA2}"/>
              </a:ext>
            </a:extLst>
          </p:cNvPr>
          <p:cNvSpPr>
            <a:spLocks noGrp="1"/>
          </p:cNvSpPr>
          <p:nvPr>
            <p:ph idx="1"/>
          </p:nvPr>
        </p:nvSpPr>
        <p:spPr/>
        <p:txBody>
          <a:bodyPr/>
          <a:lstStyle/>
          <a:p>
            <a:pPr algn="just"/>
            <a:r>
              <a:rPr lang="en-US" b="1" dirty="0" err="1"/>
              <a:t>ShuleSoft</a:t>
            </a:r>
            <a:r>
              <a:rPr lang="en-US" b="1" dirty="0"/>
              <a:t> (2024).</a:t>
            </a:r>
            <a:r>
              <a:rPr lang="en-US" dirty="0"/>
              <a:t> </a:t>
            </a:r>
            <a:r>
              <a:rPr lang="en-US" dirty="0" err="1"/>
              <a:t>ShuleSoft</a:t>
            </a:r>
            <a:r>
              <a:rPr lang="en-US" dirty="0"/>
              <a:t>: The leading school management system in Tanzania. </a:t>
            </a:r>
            <a:r>
              <a:rPr lang="en-US" dirty="0" err="1"/>
              <a:t>ShuleSoft</a:t>
            </a:r>
            <a:r>
              <a:rPr lang="en-US" dirty="0"/>
              <a:t> Official Documentation and Technical Overview. [Online]. Available: </a:t>
            </a:r>
            <a:r>
              <a:rPr lang="en-US" dirty="0">
                <a:hlinkClick r:id="rId2"/>
              </a:rPr>
              <a:t>https://shulesoft.africa/</a:t>
            </a:r>
            <a:endParaRPr lang="en-US" dirty="0"/>
          </a:p>
          <a:p>
            <a:pPr algn="just"/>
            <a:r>
              <a:rPr lang="en-US" b="1" dirty="0" err="1"/>
              <a:t>InfoTaaluma</a:t>
            </a:r>
            <a:r>
              <a:rPr lang="en-US" b="1" dirty="0"/>
              <a:t> (2023).</a:t>
            </a:r>
            <a:r>
              <a:rPr lang="en-US" dirty="0"/>
              <a:t> </a:t>
            </a:r>
            <a:r>
              <a:rPr lang="en-US" dirty="0" err="1"/>
              <a:t>InfoTaaluma</a:t>
            </a:r>
            <a:r>
              <a:rPr lang="en-US" dirty="0"/>
              <a:t>: Cloud-based school management and information system for Tanzania. </a:t>
            </a:r>
            <a:r>
              <a:rPr lang="en-US" dirty="0" err="1"/>
              <a:t>InfoTaaluma</a:t>
            </a:r>
            <a:r>
              <a:rPr lang="en-US" dirty="0"/>
              <a:t> Platform Resources. [Online]. Available: </a:t>
            </a:r>
            <a:r>
              <a:rPr lang="en-US" dirty="0">
                <a:hlinkClick r:id="rId3"/>
              </a:rPr>
              <a:t>https://infotaaluma.com/</a:t>
            </a:r>
            <a:endParaRPr lang="en-US" dirty="0"/>
          </a:p>
          <a:p>
            <a:pPr algn="just"/>
            <a:r>
              <a:rPr lang="en-US" b="1" dirty="0"/>
              <a:t>Gunawan, A., Ng, K. M., &amp; Poh, K. L. (2022).</a:t>
            </a:r>
            <a:r>
              <a:rPr lang="en-US" dirty="0"/>
              <a:t> A constraint-based automated school timetabling system: Algorithms and implementation. </a:t>
            </a:r>
            <a:r>
              <a:rPr lang="en-US" i="1" dirty="0"/>
              <a:t>International Journal of Software Engineering and Knowledge Engineering</a:t>
            </a:r>
            <a:r>
              <a:rPr lang="en-US" dirty="0"/>
              <a:t>.</a:t>
            </a:r>
          </a:p>
        </p:txBody>
      </p:sp>
      <p:sp>
        <p:nvSpPr>
          <p:cNvPr id="4" name="Footer Placeholder 3">
            <a:extLst>
              <a:ext uri="{FF2B5EF4-FFF2-40B4-BE49-F238E27FC236}">
                <a16:creationId xmlns:a16="http://schemas.microsoft.com/office/drawing/2014/main" id="{E1A04B4C-2A3E-68C1-37AD-59E7862E6FB1}"/>
              </a:ext>
            </a:extLst>
          </p:cNvPr>
          <p:cNvSpPr>
            <a:spLocks noGrp="1"/>
          </p:cNvSpPr>
          <p:nvPr>
            <p:ph type="ftr" sz="quarter" idx="11"/>
          </p:nvPr>
        </p:nvSpPr>
        <p:spPr/>
        <p:txBody>
          <a:bodyPr/>
          <a:lstStyle/>
          <a:p>
            <a:r>
              <a:rPr lang="en-US"/>
              <a:t>Department of computing and communication technology</a:t>
            </a:r>
          </a:p>
        </p:txBody>
      </p:sp>
    </p:spTree>
    <p:extLst>
      <p:ext uri="{BB962C8B-B14F-4D97-AF65-F5344CB8AC3E}">
        <p14:creationId xmlns:p14="http://schemas.microsoft.com/office/powerpoint/2010/main" val="6194355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517</TotalTime>
  <Words>1384</Words>
  <Application>Microsoft Office PowerPoint</Application>
  <PresentationFormat>Widescreen</PresentationFormat>
  <Paragraphs>67</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PROJECT MEMBERS</vt:lpstr>
      <vt:lpstr>Particulars and Project Information</vt:lpstr>
      <vt:lpstr>Background</vt:lpstr>
      <vt:lpstr>Problem Statement</vt:lpstr>
      <vt:lpstr>Significance of the Project</vt:lpstr>
      <vt:lpstr>Main Objective</vt:lpstr>
      <vt:lpstr>Specific Objectives</vt:lpstr>
      <vt:lpstr>Scope of the Project</vt:lpstr>
      <vt:lpstr>Introduction to the Literature Review </vt:lpstr>
      <vt:lpstr>Review of Existing Studies and Systems </vt:lpstr>
      <vt:lpstr>Identified Gaps in Existing Systems </vt:lpstr>
      <vt:lpstr>Relation to the Proposed System</vt:lpstr>
      <vt:lpstr>USE CASE DIAGRAM</vt:lpstr>
      <vt:lpstr>FLOW CHART DIAGRAM</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Jackson Mwalongo</dc:creator>
  <cp:lastModifiedBy>Jackson Mwalongo</cp:lastModifiedBy>
  <cp:revision>29</cp:revision>
  <dcterms:created xsi:type="dcterms:W3CDTF">2026-02-03T17:05:17Z</dcterms:created>
  <dcterms:modified xsi:type="dcterms:W3CDTF">2026-05-20T15:13:32Z</dcterms:modified>
</cp:coreProperties>
</file>